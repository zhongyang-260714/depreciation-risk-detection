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" Type="http://schemas.openxmlformats.org/officeDocument/2006/relationships/slide" Target="slides/slide3.xml" /><Relationship Id="rId21" Type="http://schemas.openxmlformats.org/officeDocument/2006/relationships/slide" Target="slides/slide21.xml" /><Relationship Id="rId8" Type="http://schemas.openxmlformats.org/officeDocument/2006/relationships/slide" Target="slides/slide8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6" Type="http://schemas.openxmlformats.org/officeDocument/2006/relationships/slide" Target="slides/slide6.xml" /><Relationship Id="rId26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6" Type="http://schemas.openxmlformats.org/officeDocument/2006/relationships/slideLayout" Target="../slideLayouts/slideLayout7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6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1.png" /><Relationship Id="rId2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3.png" /><Relationship Id="rId2" Type="http://schemas.openxmlformats.org/officeDocument/2006/relationships/image" Target="media/image4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5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" cy="41148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折旧错配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AI 泡沫下科创企业资产减值风险的识别与预警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4765" y="374903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DC48A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--基于美国十大科技公司 10-K 年报面板样本的证据链标注与五维评分体系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4480560"/>
            <a:ext cx="2743200" cy="1828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第十九届「挑战杯」 2026年度中国青年科技创新「揭榜挂帅」擂台赛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赛题编号：XH-202626  科创企业特有风险的识别与管理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0" y="59436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 lang="zh-CN"/>
              <a:t>v6.5 | 2026.08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Rectangle 2"/>
          <p:cNvSpPr/>
          <p:nvPr/>
        </p:nvSpPr>
        <p:spPr>
          <a:xfrm>
            <a:off x="0" y="54864"/>
            <a:ext cx="4114800" cy="6803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3"/>
          <p:cNvSpPr txBox="1"/>
          <p:nvPr/>
        </p:nvSpPr>
        <p:spPr>
          <a:xfrm>
            <a:off x="548640" y="13716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目 录</a:t>
            </a:r>
            <a:endParaRPr/>
          </a:p>
        </p:txBody>
      </p:sp>
      <p:sp>
        <p:nvSpPr>
          <p:cNvPr id="261" name="TextBox 4"/>
          <p:cNvSpPr txBox="1"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CONTENTS</a:t>
            </a:r>
            <a:endParaRPr/>
          </a:p>
        </p:txBody>
      </p:sp>
      <p:sp>
        <p:nvSpPr>
          <p:cNvPr id="262" name="Rectangle 5"/>
          <p:cNvSpPr/>
          <p:nvPr/>
        </p:nvSpPr>
        <p:spPr>
          <a:xfrm>
            <a:off x="548640" y="283464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6"/>
          <p:cNvSpPr txBox="1"/>
          <p:nvPr/>
        </p:nvSpPr>
        <p:spPr>
          <a:xfrm>
            <a:off x="4572000" y="5486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01</a:t>
            </a:r>
            <a:endParaRPr/>
          </a:p>
        </p:txBody>
      </p:sp>
      <p:sp>
        <p:nvSpPr>
          <p:cNvPr id="264" name="TextBox 7"/>
          <p:cNvSpPr txBox="1"/>
          <p:nvPr/>
        </p:nvSpPr>
        <p:spPr>
          <a:xfrm>
            <a:off x="5394960" y="5486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问题提出</a:t>
            </a:r>
            <a:endParaRPr/>
          </a:p>
        </p:txBody>
      </p:sp>
      <p:sp>
        <p:nvSpPr>
          <p:cNvPr id="265" name="TextBox 8"/>
          <p:cNvSpPr txBox="1"/>
          <p:nvPr/>
        </p:nvSpPr>
        <p:spPr>
          <a:xfrm>
            <a:off x="5394960" y="89611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风口上的财报陷阱</a:t>
            </a:r>
            <a:endParaRPr/>
          </a:p>
        </p:txBody>
      </p:sp>
      <p:sp>
        <p:nvSpPr>
          <p:cNvPr id="266" name="Rectangle 9"/>
          <p:cNvSpPr/>
          <p:nvPr/>
        </p:nvSpPr>
        <p:spPr>
          <a:xfrm>
            <a:off x="5394960" y="1261872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10"/>
          <p:cNvSpPr txBox="1"/>
          <p:nvPr/>
        </p:nvSpPr>
        <p:spPr>
          <a:xfrm>
            <a:off x="4572000" y="138988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02</a:t>
            </a:r>
            <a:endParaRPr/>
          </a:p>
        </p:txBody>
      </p:sp>
      <p:sp>
        <p:nvSpPr>
          <p:cNvPr id="268" name="TextBox 11"/>
          <p:cNvSpPr txBox="1"/>
          <p:nvPr/>
        </p:nvSpPr>
        <p:spPr>
          <a:xfrm>
            <a:off x="5394960" y="138988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制度背景</a:t>
            </a:r>
            <a:endParaRPr/>
          </a:p>
        </p:txBody>
      </p:sp>
      <p:sp>
        <p:nvSpPr>
          <p:cNvPr id="269" name="TextBox 12"/>
          <p:cNvSpPr txBox="1"/>
          <p:nvPr/>
        </p:nvSpPr>
        <p:spPr>
          <a:xfrm>
            <a:off x="5394960" y="1737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会计制度空间与分析基础</a:t>
            </a:r>
            <a:endParaRPr/>
          </a:p>
        </p:txBody>
      </p:sp>
      <p:sp>
        <p:nvSpPr>
          <p:cNvPr id="270" name="Rectangle 13"/>
          <p:cNvSpPr/>
          <p:nvPr/>
        </p:nvSpPr>
        <p:spPr>
          <a:xfrm>
            <a:off x="5394960" y="2103120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14"/>
          <p:cNvSpPr txBox="1"/>
          <p:nvPr/>
        </p:nvSpPr>
        <p:spPr>
          <a:xfrm>
            <a:off x="4572000" y="2231136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03</a:t>
            </a:r>
            <a:endParaRPr/>
          </a:p>
        </p:txBody>
      </p:sp>
      <p:sp>
        <p:nvSpPr>
          <p:cNvPr id="272" name="TextBox 15"/>
          <p:cNvSpPr txBox="1"/>
          <p:nvPr/>
        </p:nvSpPr>
        <p:spPr>
          <a:xfrm>
            <a:off x="5394960" y="2231136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研究方法</a:t>
            </a:r>
            <a:endParaRPr/>
          </a:p>
        </p:txBody>
      </p:sp>
      <p:sp>
        <p:nvSpPr>
          <p:cNvPr id="273" name="TextBox 16"/>
          <p:cNvSpPr txBox="1"/>
          <p:nvPr/>
        </p:nvSpPr>
        <p:spPr>
          <a:xfrm>
            <a:off x="5394960" y="25786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证据链标注与5D-DRS评分模型</a:t>
            </a:r>
            <a:endParaRPr/>
          </a:p>
        </p:txBody>
      </p:sp>
      <p:sp>
        <p:nvSpPr>
          <p:cNvPr id="274" name="Rectangle 17"/>
          <p:cNvSpPr/>
          <p:nvPr/>
        </p:nvSpPr>
        <p:spPr>
          <a:xfrm>
            <a:off x="5394960" y="2944368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18"/>
          <p:cNvSpPr txBox="1"/>
          <p:nvPr/>
        </p:nvSpPr>
        <p:spPr>
          <a:xfrm>
            <a:off x="4572000" y="3072384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04</a:t>
            </a:r>
            <a:endParaRPr/>
          </a:p>
        </p:txBody>
      </p:sp>
      <p:sp>
        <p:nvSpPr>
          <p:cNvPr id="276" name="TextBox 19"/>
          <p:cNvSpPr txBox="1"/>
          <p:nvPr/>
        </p:nvSpPr>
        <p:spPr>
          <a:xfrm>
            <a:off x="5394960" y="307238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实证结果</a:t>
            </a:r>
            <a:endParaRPr/>
          </a:p>
        </p:txBody>
      </p:sp>
      <p:sp>
        <p:nvSpPr>
          <p:cNvPr id="277" name="TextBox 20"/>
          <p:cNvSpPr txBox="1"/>
          <p:nvPr/>
        </p:nvSpPr>
        <p:spPr>
          <a:xfrm>
            <a:off x="5394960" y="341985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30份面板样本的风险分析</a:t>
            </a:r>
            <a:endParaRPr/>
          </a:p>
        </p:txBody>
      </p:sp>
      <p:sp>
        <p:nvSpPr>
          <p:cNvPr id="278" name="Rectangle 21"/>
          <p:cNvSpPr/>
          <p:nvPr/>
        </p:nvSpPr>
        <p:spPr>
          <a:xfrm>
            <a:off x="5394960" y="3785616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2"/>
          <p:cNvSpPr txBox="1"/>
          <p:nvPr/>
        </p:nvSpPr>
        <p:spPr>
          <a:xfrm>
            <a:off x="4572000" y="3913632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05</a:t>
            </a:r>
            <a:endParaRPr/>
          </a:p>
        </p:txBody>
      </p:sp>
      <p:sp>
        <p:nvSpPr>
          <p:cNvPr id="280" name="TextBox 23"/>
          <p:cNvSpPr txBox="1"/>
          <p:nvPr/>
        </p:nvSpPr>
        <p:spPr>
          <a:xfrm>
            <a:off x="5394960" y="39136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风险管理体系</a:t>
            </a:r>
            <a:endParaRPr/>
          </a:p>
        </p:txBody>
      </p:sp>
      <p:sp>
        <p:nvSpPr>
          <p:cNvPr id="281" name="TextBox 24"/>
          <p:cNvSpPr txBox="1"/>
          <p:nvPr/>
        </p:nvSpPr>
        <p:spPr>
          <a:xfrm>
            <a:off x="5394960" y="426110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全链条风控方案：识别→预警→缓释</a:t>
            </a:r>
            <a:endParaRPr/>
          </a:p>
        </p:txBody>
      </p:sp>
      <p:sp>
        <p:nvSpPr>
          <p:cNvPr id="282" name="Rectangle 25"/>
          <p:cNvSpPr/>
          <p:nvPr/>
        </p:nvSpPr>
        <p:spPr>
          <a:xfrm>
            <a:off x="5394960" y="4626864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6"/>
          <p:cNvSpPr txBox="1"/>
          <p:nvPr/>
        </p:nvSpPr>
        <p:spPr>
          <a:xfrm>
            <a:off x="4572000" y="475488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06</a:t>
            </a:r>
            <a:endParaRPr/>
          </a:p>
        </p:txBody>
      </p:sp>
      <p:sp>
        <p:nvSpPr>
          <p:cNvPr id="284" name="TextBox 27"/>
          <p:cNvSpPr txBox="1"/>
          <p:nvPr/>
        </p:nvSpPr>
        <p:spPr>
          <a:xfrm>
            <a:off x="5394960" y="475488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中国镜鉴</a:t>
            </a:r>
            <a:endParaRPr/>
          </a:p>
        </p:txBody>
      </p:sp>
      <p:sp>
        <p:nvSpPr>
          <p:cNvPr id="285" name="TextBox 28"/>
          <p:cNvSpPr txBox="1"/>
          <p:nvPr/>
        </p:nvSpPr>
        <p:spPr>
          <a:xfrm>
            <a:off x="5394960" y="5102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中美制度差异与A股验证</a:t>
            </a:r>
            <a:endParaRPr/>
          </a:p>
        </p:txBody>
      </p:sp>
      <p:sp>
        <p:nvSpPr>
          <p:cNvPr id="286" name="Rectangle 29"/>
          <p:cNvSpPr/>
          <p:nvPr/>
        </p:nvSpPr>
        <p:spPr>
          <a:xfrm>
            <a:off x="5394960" y="5468112"/>
            <a:ext cx="6217920" cy="9144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30"/>
          <p:cNvSpPr txBox="1"/>
          <p:nvPr/>
        </p:nvSpPr>
        <p:spPr>
          <a:xfrm>
            <a:off x="4572000" y="559612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07</a:t>
            </a:r>
            <a:endParaRPr/>
          </a:p>
        </p:txBody>
      </p:sp>
      <p:sp>
        <p:nvSpPr>
          <p:cNvPr id="288" name="TextBox 31"/>
          <p:cNvSpPr txBox="1"/>
          <p:nvPr/>
        </p:nvSpPr>
        <p:spPr>
          <a:xfrm>
            <a:off x="5394960" y="55961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结论与展望</a:t>
            </a:r>
            <a:endParaRPr/>
          </a:p>
        </p:txBody>
      </p:sp>
      <p:sp>
        <p:nvSpPr>
          <p:cNvPr id="289" name="TextBox 32"/>
          <p:cNvSpPr txBox="1"/>
          <p:nvPr/>
        </p:nvSpPr>
        <p:spPr>
          <a:xfrm>
            <a:off x="5394960" y="5943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主要结论、贡献与局限</a:t>
            </a:r>
            <a:endParaRPr/>
          </a:p>
        </p:txBody>
      </p:sp>
      <p:sp>
        <p:nvSpPr>
          <p:cNvPr id="290" name="Rectangle 3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34"/>
          <p:cNvSpPr txBox="1"/>
          <p:nvPr/>
        </p:nvSpPr>
        <p:spPr>
          <a:xfrm>
            <a:off x="548640" y="42062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3B6E"/>
                </a:solidFill>
                <a:latin typeface="微软雅黑" panose="020B0503020204020204" charset="-122"/>
              </a:rPr>
              <a:t>研究团队介绍</a:t>
            </a:r>
            <a:endParaRPr sz="1500" b="1">
              <a:solidFill>
                <a:srgbClr val="243B6E"/>
              </a:solidFill>
              <a:latin typeface="微软雅黑" panose="020B0503020204020204" charset="-122"/>
            </a:endParaRPr>
          </a:p>
        </p:txBody>
      </p:sp>
      <p:sp>
        <p:nvSpPr>
          <p:cNvPr id="292" name="TextBox 35"/>
          <p:cNvSpPr txBox="1"/>
          <p:nvPr/>
        </p:nvSpPr>
        <p:spPr>
          <a:xfrm>
            <a:off x="548640" y="46177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微软雅黑" panose="020B0503020204020204" charset="-122"/>
              </a:rPr>
              <a:t>研究分工与协作机制 →</a:t>
            </a:r>
            <a:endParaRPr sz="12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293" name="TextBox 36"/>
          <p:cNvSpPr txBox="1"/>
          <p:nvPr/>
        </p:nvSpPr>
        <p:spPr>
          <a:xfrm>
            <a:off x="548640" y="5212080"/>
            <a:ext cx="14833854" cy="1371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sz="1050" b="0">
                <a:solidFill>
                  <a:srgbClr val="555555"/>
                </a:solidFill>
                <a:latin typeface="微软雅黑"/>
                <a:ea typeface="微软雅黑"/>
              </a:rPr>
              <a:t>v6.5 升级：新增科技金融主线（投融贷保穿透）× 五级关键词检索 × 双市场口径（美股10家+A股6家）× AI五环流水线 × LOGO验证MAE=0.418</a:t>
            </a:r>
            <a:endParaRPr lang="zh-CN" sz="1050" b="0">
              <a:solidFill>
                <a:srgbClr val="55555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01</a:t>
            </a:r>
            <a:endParaRPr/>
          </a:p>
        </p:txBody>
      </p:sp>
      <p:sp>
        <p:nvSpPr>
          <p:cNvPr id="370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问题提出：风口上的财报陷阱</a:t>
            </a:r>
            <a:endParaRPr/>
          </a:p>
        </p:txBody>
      </p:sp>
      <p:sp>
        <p:nvSpPr>
          <p:cNvPr id="371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372" name="Rounded Rectangle 5"/>
          <p:cNvSpPr/>
          <p:nvPr/>
        </p:nvSpPr>
        <p:spPr>
          <a:xfrm>
            <a:off x="548640" y="118872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TextBox 6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核心矛盾：技术寿命 vs 会计寿命</a:t>
            </a:r>
            <a:endParaRPr/>
          </a:p>
        </p:txBody>
      </p:sp>
      <p:sp>
        <p:nvSpPr>
          <p:cNvPr id="374" name="Rectangle 7"/>
          <p:cNvSpPr/>
          <p:nvPr/>
        </p:nvSpPr>
        <p:spPr>
          <a:xfrm>
            <a:off x="822960" y="1920240"/>
            <a:ext cx="2286000" cy="4572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8"/>
          <p:cNvSpPr txBox="1"/>
          <p:nvPr/>
        </p:nvSpPr>
        <p:spPr>
          <a:xfrm>
            <a:off x="822960" y="192024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AI芯片迭代：1-2年</a:t>
            </a:r>
            <a:endParaRPr/>
          </a:p>
        </p:txBody>
      </p:sp>
      <p:sp>
        <p:nvSpPr>
          <p:cNvPr id="376" name="TextBox 9"/>
          <p:cNvSpPr txBox="1"/>
          <p:nvPr/>
        </p:nvSpPr>
        <p:spPr>
          <a:xfrm>
            <a:off x="320040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VS</a:t>
            </a:r>
            <a:endParaRPr/>
          </a:p>
        </p:txBody>
      </p:sp>
      <p:sp>
        <p:nvSpPr>
          <p:cNvPr id="377" name="Rectangle 10"/>
          <p:cNvSpPr/>
          <p:nvPr/>
        </p:nvSpPr>
        <p:spPr>
          <a:xfrm>
            <a:off x="3840480" y="1920240"/>
            <a:ext cx="1828800" cy="4572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11"/>
          <p:cNvSpPr txBox="1"/>
          <p:nvPr/>
        </p:nvSpPr>
        <p:spPr>
          <a:xfrm>
            <a:off x="3840480" y="192024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会计折旧：4-8年</a:t>
            </a:r>
            <a:endParaRPr/>
          </a:p>
        </p:txBody>
      </p:sp>
      <p:sp>
        <p:nvSpPr>
          <p:cNvPr id="379" name="TextBox 12"/>
          <p:cNvSpPr txBox="1"/>
          <p:nvPr/>
        </p:nvSpPr>
        <p:spPr>
          <a:xfrm>
            <a:off x="822960" y="25603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资产在账面上「活着」，在技术市场上已经「死了」。
折旧费用被系统性低估，利润被系统性高估。
市场识别速度已从「数年」压缩至「小时级」。</a:t>
            </a:r>
            <a:br>
              <a:rPr/>
            </a:br>
            <a:endParaRPr/>
          </a:p>
        </p:txBody>
      </p:sp>
      <p:sp>
        <p:nvSpPr>
          <p:cNvPr id="380" name="Rounded Rectangle 13"/>
          <p:cNvSpPr/>
          <p:nvPr/>
        </p:nvSpPr>
        <p:spPr>
          <a:xfrm>
            <a:off x="6217920" y="1188720"/>
            <a:ext cx="5303520" cy="2377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14"/>
          <p:cNvSpPr txBox="1"/>
          <p:nvPr/>
        </p:nvSpPr>
        <p:spPr>
          <a:xfrm>
            <a:off x="6492240" y="1371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Burry 警告：1760 亿美元争议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82" name="TextBox 15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《大空头》原型 Michael Burry 公开指控：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- 2026-2028年全行业低估折旧约 1760 亿美元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主要公司利润平均被高估约 24%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Oracle 利润或被夸大 26.9%、Meta 20.8%（2028年）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华尔街多空论战：Bernstein反驳 vs 美银/摩根士丹利支持</a:t>
            </a:r>
            <a:endParaRPr/>
          </a:p>
        </p:txBody>
      </p:sp>
      <p:sp>
        <p:nvSpPr>
          <p:cNvPr id="383" name="TextBox 1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问题的本质：三重结构性错配</a:t>
            </a:r>
            <a:endParaRPr/>
          </a:p>
        </p:txBody>
      </p:sp>
      <p:sp>
        <p:nvSpPr>
          <p:cNvPr id="384" name="Rounded Rectangle 17"/>
          <p:cNvSpPr/>
          <p:nvPr/>
        </p:nvSpPr>
        <p:spPr>
          <a:xfrm>
            <a:off x="548640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18"/>
          <p:cNvSpPr/>
          <p:nvPr/>
        </p:nvSpPr>
        <p:spPr>
          <a:xfrm>
            <a:off x="548640" y="4297680"/>
            <a:ext cx="3474720" cy="4572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TextBox 19"/>
          <p:cNvSpPr txBox="1"/>
          <p:nvPr/>
        </p:nvSpPr>
        <p:spPr>
          <a:xfrm>
            <a:off x="548640" y="429768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时间错配</a:t>
            </a:r>
            <a:endParaRPr/>
          </a:p>
        </p:txBody>
      </p:sp>
      <p:sp>
        <p:nvSpPr>
          <p:cNvPr id="387" name="TextBox 20"/>
          <p:cNvSpPr txBox="1"/>
          <p:nvPr/>
        </p:nvSpPr>
        <p:spPr>
          <a:xfrm>
            <a:off x="822959" y="493776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AI芯片迭代12-18个月</a:t>
            </a:r>
            <a:br>
              <a:rPr/>
            </a:br>
            <a:r>
              <a:rPr/>
              <a:t>会计折旧4-8年</a:t>
            </a:r>
            <a:endParaRPr/>
          </a:p>
        </p:txBody>
      </p:sp>
      <p:sp>
        <p:nvSpPr>
          <p:cNvPr id="388" name="Rounded Rectangle 21"/>
          <p:cNvSpPr/>
          <p:nvPr/>
        </p:nvSpPr>
        <p:spPr>
          <a:xfrm>
            <a:off x="4297679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Rectangle 22"/>
          <p:cNvSpPr/>
          <p:nvPr/>
        </p:nvSpPr>
        <p:spPr>
          <a:xfrm>
            <a:off x="4297679" y="4297680"/>
            <a:ext cx="347472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23"/>
          <p:cNvSpPr txBox="1"/>
          <p:nvPr/>
        </p:nvSpPr>
        <p:spPr>
          <a:xfrm>
            <a:off x="4297679" y="429768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规则错配</a:t>
            </a:r>
            <a:endParaRPr/>
          </a:p>
        </p:txBody>
      </p:sp>
      <p:sp>
        <p:nvSpPr>
          <p:cNvPr id="391" name="TextBox 24"/>
          <p:cNvSpPr txBox="1"/>
          <p:nvPr/>
        </p:nvSpPr>
        <p:spPr>
          <a:xfrm>
            <a:off x="4571999" y="493776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直线法假设均匀损耗</a:t>
            </a:r>
            <a:br>
              <a:rPr/>
            </a:br>
            <a:r>
              <a:rPr/>
              <a:t>AI资产呈断崖式贬值</a:t>
            </a:r>
            <a:endParaRPr/>
          </a:p>
        </p:txBody>
      </p:sp>
      <p:sp>
        <p:nvSpPr>
          <p:cNvPr id="392" name="Rounded Rectangle 25"/>
          <p:cNvSpPr/>
          <p:nvPr/>
        </p:nvSpPr>
        <p:spPr>
          <a:xfrm>
            <a:off x="8046719" y="429768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Rectangle 26"/>
          <p:cNvSpPr/>
          <p:nvPr/>
        </p:nvSpPr>
        <p:spPr>
          <a:xfrm>
            <a:off x="8046719" y="4297680"/>
            <a:ext cx="3474720" cy="4572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27"/>
          <p:cNvSpPr txBox="1"/>
          <p:nvPr/>
        </p:nvSpPr>
        <p:spPr>
          <a:xfrm>
            <a:off x="8046719" y="429768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激励错配</a:t>
            </a:r>
            <a:endParaRPr/>
          </a:p>
        </p:txBody>
      </p:sp>
      <p:sp>
        <p:nvSpPr>
          <p:cNvPr id="395" name="TextBox 28"/>
          <p:cNvSpPr txBox="1"/>
          <p:nvPr/>
        </p:nvSpPr>
        <p:spPr>
          <a:xfrm>
            <a:off x="8321040" y="493776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defRPr sz="12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AI军备竞赛期</a:t>
            </a:r>
            <a:br>
              <a:rPr/>
            </a:br>
            <a:r>
              <a:rPr/>
              <a:t>管理层有动机压低成本</a:t>
            </a:r>
            <a:endParaRPr/>
          </a:p>
        </p:txBody>
      </p:sp>
      <p:sp>
        <p:nvSpPr>
          <p:cNvPr id="396" name="Rectangle 29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3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3 / 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  <a:endParaRPr/>
          </a:p>
        </p:txBody>
      </p:sp>
      <p:sp>
        <p:nvSpPr>
          <p:cNvPr id="401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产业痛点与国家战略响应：从会计问题到国家命题</a:t>
            </a:r>
            <a:endParaRPr/>
          </a:p>
        </p:txBody>
      </p:sp>
      <p:sp>
        <p:nvSpPr>
          <p:cNvPr id="402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403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4 / 23</a:t>
            </a:r>
            <a:endParaRPr/>
          </a:p>
        </p:txBody>
      </p:sp>
      <p:sp>
        <p:nvSpPr>
          <p:cNvPr id="405" name="Rounded Rectangle 7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Rectangle 8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TextBox 9"/>
          <p:cNvSpPr txBox="1"/>
          <p:nvPr/>
        </p:nvSpPr>
        <p:spPr>
          <a:xfrm>
            <a:off x="640080" y="1572768"/>
            <a:ext cx="5303520" cy="51206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产业痛点：谁在受伤？</a:t>
            </a:r>
            <a:endParaRPr/>
          </a:p>
        </p:txBody>
      </p:sp>
      <p:sp>
        <p:nvSpPr>
          <p:cNvPr id="408" name="Rounded Rectangle 10"/>
          <p:cNvSpPr/>
          <p:nvPr/>
        </p:nvSpPr>
        <p:spPr>
          <a:xfrm>
            <a:off x="731520" y="2240280"/>
            <a:ext cx="512064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Rectangle 11"/>
          <p:cNvSpPr/>
          <p:nvPr/>
        </p:nvSpPr>
        <p:spPr>
          <a:xfrm>
            <a:off x="731520" y="2240280"/>
            <a:ext cx="82296" cy="1207008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TextBox 12"/>
          <p:cNvSpPr txBox="1"/>
          <p:nvPr/>
        </p:nvSpPr>
        <p:spPr>
          <a:xfrm>
            <a:off x="914400" y="2295144"/>
            <a:ext cx="48463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1B2E"/>
                </a:solidFill>
                <a:latin typeface="微软雅黑"/>
              </a:rPr>
              <a:t>① 直接受害者（💰 机构投资者 → 基民 &amp; 养老金受益人）</a:t>
            </a:r>
            <a:endParaRPr/>
          </a:p>
        </p:txBody>
      </p:sp>
      <p:sp>
        <p:nvSpPr>
          <p:cNvPr id="411" name="TextBox 13"/>
          <p:cNvSpPr txBox="1"/>
          <p:nvPr/>
        </p:nvSpPr>
        <p:spPr>
          <a:xfrm>
            <a:off x="914400" y="2651760"/>
            <a:ext cx="484632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2023末A股专业机构持股20.6%，科创板机构交易占比&gt;70%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伤害链：延长折旧→利润虚增→股价上涨→机构追高→减值暴露→割肉</a:t>
            </a:r>
            <a:endParaRPr/>
          </a:p>
        </p:txBody>
      </p:sp>
      <p:sp>
        <p:nvSpPr>
          <p:cNvPr id="412" name="Rounded Rectangle 14"/>
          <p:cNvSpPr/>
          <p:nvPr/>
        </p:nvSpPr>
        <p:spPr>
          <a:xfrm>
            <a:off x="731520" y="3520440"/>
            <a:ext cx="512064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ectangle 15"/>
          <p:cNvSpPr/>
          <p:nvPr/>
        </p:nvSpPr>
        <p:spPr>
          <a:xfrm>
            <a:off x="731520" y="3520440"/>
            <a:ext cx="82296" cy="1207008"/>
          </a:xfrm>
          <a:prstGeom prst="rect">
            <a:avLst/>
          </a:prstGeom>
          <a:solidFill>
            <a:srgbClr val="C9A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TextBox 16"/>
          <p:cNvSpPr txBox="1"/>
          <p:nvPr/>
        </p:nvSpPr>
        <p:spPr>
          <a:xfrm>
            <a:off x="914400" y="3575304"/>
            <a:ext cx="48463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1B2E"/>
                </a:solidFill>
                <a:latin typeface="微软雅黑"/>
              </a:rPr>
              <a:t>② 间接受害者（📊 科创板定价效率）</a:t>
            </a:r>
            <a:endParaRPr/>
          </a:p>
        </p:txBody>
      </p:sp>
      <p:sp>
        <p:nvSpPr>
          <p:cNvPr id="415" name="TextBox 17"/>
          <p:cNvSpPr txBox="1"/>
          <p:nvPr/>
        </p:nvSpPr>
        <p:spPr>
          <a:xfrm>
            <a:off x="914400" y="3931920"/>
            <a:ext cx="484632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「劣币驱逐良币」：伪盈利企业获高估值，真科技企业被挤出</a:t>
            </a:r>
            <a:endParaRPr/>
          </a:p>
        </p:txBody>
      </p:sp>
      <p:sp>
        <p:nvSpPr>
          <p:cNvPr id="416" name="Rounded Rectangle 18"/>
          <p:cNvSpPr/>
          <p:nvPr/>
        </p:nvSpPr>
        <p:spPr>
          <a:xfrm>
            <a:off x="731520" y="4800600"/>
            <a:ext cx="512064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ectangle 19"/>
          <p:cNvSpPr/>
          <p:nvPr/>
        </p:nvSpPr>
        <p:spPr>
          <a:xfrm>
            <a:off x="731520" y="4800600"/>
            <a:ext cx="82296" cy="120700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TextBox 20"/>
          <p:cNvSpPr txBox="1"/>
          <p:nvPr/>
        </p:nvSpPr>
        <p:spPr>
          <a:xfrm>
            <a:off x="914400" y="4855464"/>
            <a:ext cx="484632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E1B2E"/>
                </a:solidFill>
                <a:latin typeface="微软雅黑"/>
              </a:rPr>
              <a:t>③ 系统性受害者（🏛️ 国家科技金融战略）</a:t>
            </a:r>
            <a:endParaRPr/>
          </a:p>
        </p:txBody>
      </p:sp>
      <p:sp>
        <p:nvSpPr>
          <p:cNvPr id="419" name="TextBox 21"/>
          <p:cNvSpPr txBox="1"/>
          <p:nvPr/>
        </p:nvSpPr>
        <p:spPr>
          <a:xfrm>
            <a:off x="914400" y="5212080"/>
            <a:ext cx="484632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中国人寿科技保险风险保障87万亿元（+133%），建行科技贷款5.15万亿元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「资金端在为会计估计操纵提供融资」</a:t>
            </a:r>
            <a:endParaRPr/>
          </a:p>
        </p:txBody>
      </p:sp>
      <p:sp>
        <p:nvSpPr>
          <p:cNvPr id="420" name="Rounded Rectangle 22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Rectangle 23"/>
          <p:cNvSpPr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TextBox 24"/>
          <p:cNvSpPr txBox="1"/>
          <p:nvPr/>
        </p:nvSpPr>
        <p:spPr>
          <a:xfrm>
            <a:off x="6400800" y="1572768"/>
            <a:ext cx="5120640" cy="51206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国家战略响应：从「识别工具」到「制度基础设施」</a:t>
            </a:r>
            <a:endParaRPr/>
          </a:p>
        </p:txBody>
      </p:sp>
      <p:sp>
        <p:nvSpPr>
          <p:cNvPr id="423" name="Rounded Rectangle 25"/>
          <p:cNvSpPr/>
          <p:nvPr/>
        </p:nvSpPr>
        <p:spPr>
          <a:xfrm>
            <a:off x="6492240" y="2240280"/>
            <a:ext cx="493776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ectangle 26"/>
          <p:cNvSpPr/>
          <p:nvPr/>
        </p:nvSpPr>
        <p:spPr>
          <a:xfrm>
            <a:off x="6492240" y="2240280"/>
            <a:ext cx="82296" cy="1207008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TextBox 27"/>
          <p:cNvSpPr txBox="1"/>
          <p:nvPr/>
        </p:nvSpPr>
        <p:spPr>
          <a:xfrm>
            <a:off x="6675120" y="2295144"/>
            <a:ext cx="4663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1B2E"/>
                </a:solidFill>
                <a:latin typeface="微软雅黑"/>
              </a:rPr>
              <a:t>金融安全层</a:t>
            </a:r>
            <a:endParaRPr/>
          </a:p>
        </p:txBody>
      </p:sp>
      <p:sp>
        <p:nvSpPr>
          <p:cNvPr id="426" name="TextBox 28"/>
          <p:cNvSpPr txBox="1"/>
          <p:nvPr/>
        </p:nvSpPr>
        <p:spPr>
          <a:xfrm>
            <a:off x="6675120" y="2651760"/>
            <a:ext cx="466344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防范科技泡沫引发系统性风险 → 呼应国发〔2024〕10号「强监管、防风险」</a:t>
            </a:r>
            <a:endParaRPr/>
          </a:p>
        </p:txBody>
      </p:sp>
      <p:sp>
        <p:nvSpPr>
          <p:cNvPr id="427" name="Rounded Rectangle 29"/>
          <p:cNvSpPr/>
          <p:nvPr/>
        </p:nvSpPr>
        <p:spPr>
          <a:xfrm>
            <a:off x="6492240" y="3520440"/>
            <a:ext cx="493776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ectangle 30"/>
          <p:cNvSpPr/>
          <p:nvPr/>
        </p:nvSpPr>
        <p:spPr>
          <a:xfrm>
            <a:off x="6492240" y="3520440"/>
            <a:ext cx="82296" cy="1207008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TextBox 31"/>
          <p:cNvSpPr txBox="1"/>
          <p:nvPr/>
        </p:nvSpPr>
        <p:spPr>
          <a:xfrm>
            <a:off x="6675120" y="3575304"/>
            <a:ext cx="4663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1B2E"/>
                </a:solidFill>
                <a:latin typeface="微软雅黑"/>
              </a:rPr>
              <a:t>产业安全层</a:t>
            </a:r>
            <a:endParaRPr/>
          </a:p>
        </p:txBody>
      </p:sp>
      <p:sp>
        <p:nvSpPr>
          <p:cNvPr id="430" name="TextBox 32"/>
          <p:cNvSpPr txBox="1"/>
          <p:nvPr/>
        </p:nvSpPr>
        <p:spPr>
          <a:xfrm>
            <a:off x="6675120" y="3931920"/>
            <a:ext cx="466344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保障新质生产力资源配置效率 → 呼应「十五五」集成电路 / 工业母机攻关</a:t>
            </a:r>
            <a:endParaRPr/>
          </a:p>
        </p:txBody>
      </p:sp>
      <p:sp>
        <p:nvSpPr>
          <p:cNvPr id="431" name="Rounded Rectangle 33"/>
          <p:cNvSpPr/>
          <p:nvPr/>
        </p:nvSpPr>
        <p:spPr>
          <a:xfrm>
            <a:off x="6492240" y="4800600"/>
            <a:ext cx="493776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ectangle 34"/>
          <p:cNvSpPr/>
          <p:nvPr/>
        </p:nvSpPr>
        <p:spPr>
          <a:xfrm>
            <a:off x="6492240" y="4800600"/>
            <a:ext cx="82296" cy="1207008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TextBox 35"/>
          <p:cNvSpPr txBox="1"/>
          <p:nvPr/>
        </p:nvSpPr>
        <p:spPr>
          <a:xfrm>
            <a:off x="6675120" y="4855464"/>
            <a:ext cx="466344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1B2E"/>
                </a:solidFill>
                <a:latin typeface="微软雅黑"/>
              </a:rPr>
              <a:t>投资者保护层</a:t>
            </a:r>
            <a:endParaRPr/>
          </a:p>
        </p:txBody>
      </p:sp>
      <p:sp>
        <p:nvSpPr>
          <p:cNvPr id="434" name="TextBox 36"/>
          <p:cNvSpPr txBox="1"/>
          <p:nvPr/>
        </p:nvSpPr>
        <p:spPr>
          <a:xfrm>
            <a:off x="6675120" y="5212080"/>
            <a:ext cx="4663440" cy="7498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落实资本市场「人民性」 → 呼应中央金融工作会议</a:t>
            </a:r>
            <a:endParaRPr/>
          </a:p>
        </p:txBody>
      </p:sp>
      <p:sp>
        <p:nvSpPr>
          <p:cNvPr id="435" name="TextBox 37"/>
          <p:cNvSpPr txBox="1"/>
          <p:nvPr/>
        </p:nvSpPr>
        <p:spPr>
          <a:xfrm>
            <a:off x="548640" y="6217920"/>
            <a:ext cx="109728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5D5D"/>
                </a:solidFill>
                <a:latin typeface="微软雅黑"/>
              </a:rPr>
              <a:t>与发榜方中国平安战略契合：科技保险承保326万件、9.29万亿元保障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02</a:t>
            </a:r>
            <a:endParaRPr/>
          </a:p>
        </p:txBody>
      </p:sp>
      <p:sp>
        <p:nvSpPr>
          <p:cNvPr id="439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制度背景与分析基础</a:t>
            </a:r>
            <a:endParaRPr/>
          </a:p>
        </p:txBody>
      </p:sp>
      <p:sp>
        <p:nvSpPr>
          <p:cNvPr id="440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441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中美会计制度对比：折旧估计的裁量空间</a:t>
            </a:r>
            <a:endParaRPr/>
          </a:p>
        </p:txBody>
      </p:sp>
      <p:sp>
        <p:nvSpPr>
          <p:cNvPr id="442" name="Rounded Rectangle 6"/>
          <p:cNvSpPr/>
          <p:nvPr/>
        </p:nvSpPr>
        <p:spPr>
          <a:xfrm>
            <a:off x="548640" y="164592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ectangle 7"/>
          <p:cNvSpPr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TextBox 8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美国 GAAP</a:t>
            </a:r>
            <a:endParaRPr/>
          </a:p>
        </p:txBody>
      </p:sp>
      <p:sp>
        <p:nvSpPr>
          <p:cNvPr id="445" name="TextBox 9"/>
          <p:cNvSpPr txBox="1"/>
          <p:nvPr/>
        </p:nvSpPr>
        <p:spPr>
          <a:xfrm>
            <a:off x="822960" y="2286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折旧年限属「会计估计」，管理层有合法裁量权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ASC 250：变更采未来适用法（prospectively）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延长年限的利润增厚立即兑现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历史少提的折旧永不修正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准则要求披露影响金额，但不要求论证</a:t>
            </a:r>
            <a:br>
              <a:rPr/>
            </a:br>
            <a:r>
              <a:rPr/>
              <a:t>  年限与技术迭代周期的匹配性</a:t>
            </a:r>
            <a:endParaRPr/>
          </a:p>
        </p:txBody>
      </p:sp>
      <p:sp>
        <p:nvSpPr>
          <p:cNvPr id="446" name="Rounded Rectangle 10"/>
          <p:cNvSpPr/>
          <p:nvPr/>
        </p:nvSpPr>
        <p:spPr>
          <a:xfrm>
            <a:off x="6217920" y="164592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Rectangle 11"/>
          <p:cNvSpPr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TextBox 12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中国制度：方向相反</a:t>
            </a:r>
            <a:endParaRPr/>
          </a:p>
        </p:txBody>
      </p:sp>
      <p:sp>
        <p:nvSpPr>
          <p:cNvPr id="449" name="TextBox 13"/>
          <p:cNvSpPr txBox="1"/>
          <p:nvPr/>
        </p:nvSpPr>
        <p:spPr>
          <a:xfrm>
            <a:off x="6492240" y="2286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会计准则层面：估计变更同样采未来适用法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税法层面：明确鼓励加速折旧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- 缩短年限至法定 60% 或双倍余额递减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- ≤500万元设备一次性税前扣除（至2027年）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- 研发设备折旧 100% 加计扣除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中国制度鼓励让账面折旧快于技术迭代</a:t>
            </a:r>
            <a:endParaRPr/>
          </a:p>
        </p:txBody>
      </p:sp>
      <p:sp>
        <p:nvSpPr>
          <p:cNvPr id="450" name="Rounded Rectangle 14"/>
          <p:cNvSpPr/>
          <p:nvPr/>
        </p:nvSpPr>
        <p:spPr>
          <a:xfrm>
            <a:off x="548640" y="4572000"/>
            <a:ext cx="10972800" cy="1645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TextBox 15"/>
          <p:cNvSpPr txBox="1"/>
          <p:nvPr/>
        </p:nvSpPr>
        <p:spPr>
          <a:xfrm>
            <a:off x="1005840" y="476885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关键结论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52" name="TextBox 16"/>
          <p:cNvSpPr txBox="1"/>
          <p:nvPr/>
        </p:nvSpPr>
        <p:spPr>
          <a:xfrm>
            <a:off x="91440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披露合规 ≠ 会计透明：只要求「风险被文字披露」（Hutton et al. 2009）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裁量空间：准则要求披露影响金额，但不要求论证年限与技术迭代的匹配性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- 中国「有工具」不等于「无风险」：加速折旧是自愿性优惠，会计准则层面的估计裁量与美国同构</a:t>
            </a:r>
            <a:endParaRPr/>
          </a:p>
        </p:txBody>
      </p:sp>
      <p:sp>
        <p:nvSpPr>
          <p:cNvPr id="453" name="Rectangle 1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TextBox 1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5 / 23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  <a:endParaRPr/>
          </a:p>
        </p:txBody>
      </p:sp>
      <p:sp>
        <p:nvSpPr>
          <p:cNvPr id="458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传统风控的结构性盲区：为什么审计、评级、精算、RegTech都「看不见」？</a:t>
            </a:r>
            <a:endParaRPr/>
          </a:p>
        </p:txBody>
      </p:sp>
      <p:sp>
        <p:nvSpPr>
          <p:cNvPr id="459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460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6 / 23</a:t>
            </a:r>
            <a:endParaRPr/>
          </a:p>
        </p:txBody>
      </p:sp>
      <p:sp>
        <p:nvSpPr>
          <p:cNvPr id="462" name="Rounded Rectangle 7"/>
          <p:cNvSpPr/>
          <p:nvPr/>
        </p:nvSpPr>
        <p:spPr>
          <a:xfrm>
            <a:off x="548640" y="164592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Rectangle 8"/>
          <p:cNvSpPr/>
          <p:nvPr/>
        </p:nvSpPr>
        <p:spPr>
          <a:xfrm>
            <a:off x="548640" y="1645920"/>
            <a:ext cx="5303520" cy="64008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TextBox 9"/>
          <p:cNvSpPr txBox="1"/>
          <p:nvPr/>
        </p:nvSpPr>
        <p:spPr>
          <a:xfrm>
            <a:off x="640080" y="1700784"/>
            <a:ext cx="5120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审计盲区</a:t>
            </a:r>
            <a:endParaRPr/>
          </a:p>
        </p:txBody>
      </p:sp>
      <p:sp>
        <p:nvSpPr>
          <p:cNvPr id="465" name="TextBox 10"/>
          <p:cNvSpPr txBox="1"/>
          <p:nvPr/>
        </p:nvSpPr>
        <p:spPr>
          <a:xfrm>
            <a:off x="658368" y="2331720"/>
            <a:ext cx="5084064" cy="1417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传统假设：折旧算得对就行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准则不要求验证年限 vs 技术迭代匹配性</a:t>
            </a:r>
            <a:endParaRPr/>
          </a:p>
        </p:txBody>
      </p:sp>
      <p:sp>
        <p:nvSpPr>
          <p:cNvPr id="466" name="Rounded Rectangle 11"/>
          <p:cNvSpPr/>
          <p:nvPr/>
        </p:nvSpPr>
        <p:spPr>
          <a:xfrm>
            <a:off x="6309360" y="164592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Rectangle 12"/>
          <p:cNvSpPr/>
          <p:nvPr/>
        </p:nvSpPr>
        <p:spPr>
          <a:xfrm>
            <a:off x="6309360" y="1645920"/>
            <a:ext cx="5303520" cy="640080"/>
          </a:xfrm>
          <a:prstGeom prst="rect">
            <a:avLst/>
          </a:prstGeom>
          <a:solidFill>
            <a:srgbClr val="C9A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TextBox 13"/>
          <p:cNvSpPr txBox="1"/>
          <p:nvPr/>
        </p:nvSpPr>
        <p:spPr>
          <a:xfrm>
            <a:off x="6400800" y="1700784"/>
            <a:ext cx="5120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评级盲区</a:t>
            </a:r>
            <a:endParaRPr/>
          </a:p>
        </p:txBody>
      </p:sp>
      <p:sp>
        <p:nvSpPr>
          <p:cNvPr id="469" name="TextBox 14"/>
          <p:cNvSpPr txBox="1"/>
          <p:nvPr/>
        </p:nvSpPr>
        <p:spPr>
          <a:xfrm>
            <a:off x="6419088" y="2331720"/>
            <a:ext cx="5084064" cy="1417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传统假设：现金流是核心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折旧是非现金费用，延长不改变现金流</a:t>
            </a:r>
            <a:endParaRPr/>
          </a:p>
        </p:txBody>
      </p:sp>
      <p:sp>
        <p:nvSpPr>
          <p:cNvPr id="470" name="Rounded Rectangle 15"/>
          <p:cNvSpPr/>
          <p:nvPr/>
        </p:nvSpPr>
        <p:spPr>
          <a:xfrm>
            <a:off x="548640" y="393192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Rectangle 16"/>
          <p:cNvSpPr/>
          <p:nvPr/>
        </p:nvSpPr>
        <p:spPr>
          <a:xfrm>
            <a:off x="548640" y="3931920"/>
            <a:ext cx="5303520" cy="64008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TextBox 17"/>
          <p:cNvSpPr txBox="1"/>
          <p:nvPr/>
        </p:nvSpPr>
        <p:spPr>
          <a:xfrm>
            <a:off x="640080" y="3986783"/>
            <a:ext cx="5120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精算盲区</a:t>
            </a:r>
            <a:endParaRPr/>
          </a:p>
        </p:txBody>
      </p:sp>
      <p:sp>
        <p:nvSpPr>
          <p:cNvPr id="473" name="TextBox 18"/>
          <p:cNvSpPr txBox="1"/>
          <p:nvPr/>
        </p:nvSpPr>
        <p:spPr>
          <a:xfrm>
            <a:off x="658368" y="4617720"/>
            <a:ext cx="5084064" cy="14173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传统假设：历史数据定价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AI算力资产商业化不足5年，无理赔数据</a:t>
            </a:r>
            <a:endParaRPr/>
          </a:p>
        </p:txBody>
      </p:sp>
      <p:sp>
        <p:nvSpPr>
          <p:cNvPr id="474" name="Rounded Rectangle 19"/>
          <p:cNvSpPr/>
          <p:nvPr/>
        </p:nvSpPr>
        <p:spPr>
          <a:xfrm>
            <a:off x="6309360" y="393192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Rectangle 20"/>
          <p:cNvSpPr/>
          <p:nvPr/>
        </p:nvSpPr>
        <p:spPr>
          <a:xfrm>
            <a:off x="6309360" y="3931920"/>
            <a:ext cx="5303520" cy="64008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TextBox 21"/>
          <p:cNvSpPr txBox="1"/>
          <p:nvPr/>
        </p:nvSpPr>
        <p:spPr>
          <a:xfrm>
            <a:off x="6400800" y="3986783"/>
            <a:ext cx="512064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RegTech盲区</a:t>
            </a:r>
            <a:endParaRPr/>
          </a:p>
        </p:txBody>
      </p:sp>
      <p:sp>
        <p:nvSpPr>
          <p:cNvPr id="477" name="TextBox 22"/>
          <p:cNvSpPr txBox="1"/>
          <p:nvPr/>
        </p:nvSpPr>
        <p:spPr>
          <a:xfrm>
            <a:off x="6419088" y="4617720"/>
            <a:ext cx="5084064" cy="14173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传统假设：字段提取=识别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微软雅黑"/>
              </a:rPr>
              <a:t>知道「4→6年」，但不知这在AI资产上意味着什么</a:t>
            </a:r>
            <a:endParaRPr/>
          </a:p>
        </p:txBody>
      </p:sp>
      <p:sp>
        <p:nvSpPr>
          <p:cNvPr id="478" name="TextBox 23"/>
          <p:cNvSpPr txBox="1"/>
          <p:nvPr/>
        </p:nvSpPr>
        <p:spPr>
          <a:xfrm>
            <a:off x="548640" y="6263640"/>
            <a:ext cx="10972800" cy="4114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1B2E"/>
                </a:solidFill>
                <a:latin typeface="微软雅黑"/>
              </a:rPr>
              <a:t>本研究不是替代传统风控，而是填补其结构性盲区——补上「技术经济寿命评估」这一关键缺失环节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4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03</a:t>
            </a:r>
            <a:endParaRPr/>
          </a:p>
        </p:txBody>
      </p:sp>
      <p:sp>
        <p:nvSpPr>
          <p:cNvPr id="482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研究方法：5D-DRS 五维评分模型</a:t>
            </a:r>
            <a:endParaRPr/>
          </a:p>
        </p:txBody>
      </p:sp>
      <p:sp>
        <p:nvSpPr>
          <p:cNvPr id="483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484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五维度折旧风险评分模型（5D-DRS）</a:t>
            </a:r>
            <a:endParaRPr/>
          </a:p>
        </p:txBody>
      </p:sp>
      <p:sp>
        <p:nvSpPr>
          <p:cNvPr id="485" name="Rounded Rectangle 6"/>
          <p:cNvSpPr/>
          <p:nvPr/>
        </p:nvSpPr>
        <p:spPr>
          <a:xfrm>
            <a:off x="548640" y="164592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Rectangle 7"/>
          <p:cNvSpPr/>
          <p:nvPr/>
        </p:nvSpPr>
        <p:spPr>
          <a:xfrm>
            <a:off x="548640" y="1645920"/>
            <a:ext cx="2057400" cy="73152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TextBox 8"/>
          <p:cNvSpPr txBox="1"/>
          <p:nvPr/>
        </p:nvSpPr>
        <p:spPr>
          <a:xfrm>
            <a:off x="548640" y="164592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D1</a:t>
            </a:r>
            <a:endParaRPr/>
          </a:p>
        </p:txBody>
      </p:sp>
      <p:sp>
        <p:nvSpPr>
          <p:cNvPr id="488" name="TextBox 9"/>
          <p:cNvSpPr txBox="1"/>
          <p:nvPr/>
        </p:nvSpPr>
        <p:spPr>
          <a:xfrm>
            <a:off x="548640" y="251460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权重 0.25</a:t>
            </a:r>
            <a:endParaRPr/>
          </a:p>
        </p:txBody>
      </p:sp>
      <p:sp>
        <p:nvSpPr>
          <p:cNvPr id="489" name="TextBox 10"/>
          <p:cNvSpPr txBox="1"/>
          <p:nvPr/>
        </p:nvSpPr>
        <p:spPr>
          <a:xfrm>
            <a:off x="640080" y="29260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折旧年限错配</a:t>
            </a:r>
            <a:endParaRPr/>
          </a:p>
        </p:txBody>
      </p:sp>
      <p:sp>
        <p:nvSpPr>
          <p:cNvPr id="490" name="TextBox 11"/>
          <p:cNvSpPr txBox="1"/>
          <p:nvPr/>
        </p:nvSpPr>
        <p:spPr>
          <a:xfrm>
            <a:off x="685800" y="33832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会计寿命 vs 技术迭代周期</a:t>
            </a:r>
            <a:endParaRPr/>
          </a:p>
        </p:txBody>
      </p:sp>
      <p:sp>
        <p:nvSpPr>
          <p:cNvPr id="491" name="Rounded Rectangle 12"/>
          <p:cNvSpPr/>
          <p:nvPr/>
        </p:nvSpPr>
        <p:spPr>
          <a:xfrm>
            <a:off x="2816352" y="164592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Rectangle 13"/>
          <p:cNvSpPr/>
          <p:nvPr/>
        </p:nvSpPr>
        <p:spPr>
          <a:xfrm>
            <a:off x="2816352" y="1645920"/>
            <a:ext cx="2057400" cy="7315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TextBox 14"/>
          <p:cNvSpPr txBox="1"/>
          <p:nvPr/>
        </p:nvSpPr>
        <p:spPr>
          <a:xfrm>
            <a:off x="2816352" y="164592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D2</a:t>
            </a:r>
            <a:endParaRPr/>
          </a:p>
        </p:txBody>
      </p:sp>
      <p:sp>
        <p:nvSpPr>
          <p:cNvPr id="494" name="TextBox 15"/>
          <p:cNvSpPr txBox="1"/>
          <p:nvPr/>
        </p:nvSpPr>
        <p:spPr>
          <a:xfrm>
            <a:off x="2816352" y="251460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权重 0.20</a:t>
            </a:r>
            <a:endParaRPr/>
          </a:p>
        </p:txBody>
      </p:sp>
      <p:sp>
        <p:nvSpPr>
          <p:cNvPr id="495" name="TextBox 16"/>
          <p:cNvSpPr txBox="1"/>
          <p:nvPr/>
        </p:nvSpPr>
        <p:spPr>
          <a:xfrm>
            <a:off x="2907792" y="29260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会计政策保守性</a:t>
            </a:r>
            <a:endParaRPr/>
          </a:p>
        </p:txBody>
      </p:sp>
      <p:sp>
        <p:nvSpPr>
          <p:cNvPr id="496" name="TextBox 17"/>
          <p:cNvSpPr txBox="1"/>
          <p:nvPr/>
        </p:nvSpPr>
        <p:spPr>
          <a:xfrm>
            <a:off x="2953512" y="33832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是否存在延长年限的变更</a:t>
            </a:r>
            <a:endParaRPr/>
          </a:p>
        </p:txBody>
      </p:sp>
      <p:sp>
        <p:nvSpPr>
          <p:cNvPr id="497" name="Rounded Rectangle 18"/>
          <p:cNvSpPr/>
          <p:nvPr/>
        </p:nvSpPr>
        <p:spPr>
          <a:xfrm>
            <a:off x="5084064" y="164592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Rectangle 19"/>
          <p:cNvSpPr/>
          <p:nvPr/>
        </p:nvSpPr>
        <p:spPr>
          <a:xfrm>
            <a:off x="5084064" y="1645920"/>
            <a:ext cx="2057400" cy="73152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TextBox 20"/>
          <p:cNvSpPr txBox="1"/>
          <p:nvPr/>
        </p:nvSpPr>
        <p:spPr>
          <a:xfrm>
            <a:off x="5084064" y="164592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D3</a:t>
            </a:r>
            <a:endParaRPr/>
          </a:p>
        </p:txBody>
      </p:sp>
      <p:sp>
        <p:nvSpPr>
          <p:cNvPr id="500" name="TextBox 21"/>
          <p:cNvSpPr txBox="1"/>
          <p:nvPr/>
        </p:nvSpPr>
        <p:spPr>
          <a:xfrm>
            <a:off x="5084064" y="251460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权重 0.20</a:t>
            </a:r>
            <a:endParaRPr/>
          </a:p>
        </p:txBody>
      </p:sp>
      <p:sp>
        <p:nvSpPr>
          <p:cNvPr id="501" name="TextBox 22"/>
          <p:cNvSpPr txBox="1"/>
          <p:nvPr/>
        </p:nvSpPr>
        <p:spPr>
          <a:xfrm>
            <a:off x="5175503" y="29260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减值风险触发</a:t>
            </a:r>
            <a:endParaRPr/>
          </a:p>
        </p:txBody>
      </p:sp>
      <p:sp>
        <p:nvSpPr>
          <p:cNvPr id="502" name="TextBox 23"/>
          <p:cNvSpPr txBox="1"/>
          <p:nvPr/>
        </p:nvSpPr>
        <p:spPr>
          <a:xfrm>
            <a:off x="5221224" y="33832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实际减值记录与信号密度</a:t>
            </a:r>
            <a:endParaRPr/>
          </a:p>
        </p:txBody>
      </p:sp>
      <p:sp>
        <p:nvSpPr>
          <p:cNvPr id="503" name="Rounded Rectangle 24"/>
          <p:cNvSpPr/>
          <p:nvPr/>
        </p:nvSpPr>
        <p:spPr>
          <a:xfrm>
            <a:off x="7351775" y="164592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Rectangle 25"/>
          <p:cNvSpPr/>
          <p:nvPr/>
        </p:nvSpPr>
        <p:spPr>
          <a:xfrm>
            <a:off x="7351775" y="1645920"/>
            <a:ext cx="2057400" cy="73152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5" name="TextBox 26"/>
          <p:cNvSpPr txBox="1"/>
          <p:nvPr/>
        </p:nvSpPr>
        <p:spPr>
          <a:xfrm>
            <a:off x="7351775" y="164592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D4</a:t>
            </a:r>
            <a:endParaRPr/>
          </a:p>
        </p:txBody>
      </p:sp>
      <p:sp>
        <p:nvSpPr>
          <p:cNvPr id="506" name="TextBox 27"/>
          <p:cNvSpPr txBox="1"/>
          <p:nvPr/>
        </p:nvSpPr>
        <p:spPr>
          <a:xfrm>
            <a:off x="7351775" y="251460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权重 0.20</a:t>
            </a:r>
            <a:endParaRPr/>
          </a:p>
        </p:txBody>
      </p:sp>
      <p:sp>
        <p:nvSpPr>
          <p:cNvPr id="507" name="TextBox 28"/>
          <p:cNvSpPr txBox="1"/>
          <p:nvPr/>
        </p:nvSpPr>
        <p:spPr>
          <a:xfrm>
            <a:off x="7443215" y="29260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CAPEX 强度</a:t>
            </a:r>
            <a:endParaRPr/>
          </a:p>
        </p:txBody>
      </p:sp>
      <p:sp>
        <p:nvSpPr>
          <p:cNvPr id="508" name="TextBox 29"/>
          <p:cNvSpPr txBox="1"/>
          <p:nvPr/>
        </p:nvSpPr>
        <p:spPr>
          <a:xfrm>
            <a:off x="7488936" y="33832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资本支出占收入比（敞口）</a:t>
            </a:r>
            <a:endParaRPr/>
          </a:p>
        </p:txBody>
      </p:sp>
      <p:sp>
        <p:nvSpPr>
          <p:cNvPr id="509" name="Rounded Rectangle 30"/>
          <p:cNvSpPr/>
          <p:nvPr/>
        </p:nvSpPr>
        <p:spPr>
          <a:xfrm>
            <a:off x="9619488" y="1645920"/>
            <a:ext cx="20574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Rectangle 31"/>
          <p:cNvSpPr/>
          <p:nvPr/>
        </p:nvSpPr>
        <p:spPr>
          <a:xfrm>
            <a:off x="9619488" y="1645920"/>
            <a:ext cx="2057400" cy="731520"/>
          </a:xfrm>
          <a:prstGeom prst="rect">
            <a:avLst/>
          </a:prstGeom>
          <a:solidFill>
            <a:srgbClr val="5BB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TextBox 32"/>
          <p:cNvSpPr txBox="1"/>
          <p:nvPr/>
        </p:nvSpPr>
        <p:spPr>
          <a:xfrm>
            <a:off x="9619488" y="1645920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D5</a:t>
            </a:r>
            <a:endParaRPr/>
          </a:p>
        </p:txBody>
      </p:sp>
      <p:sp>
        <p:nvSpPr>
          <p:cNvPr id="512" name="TextBox 33"/>
          <p:cNvSpPr txBox="1"/>
          <p:nvPr/>
        </p:nvSpPr>
        <p:spPr>
          <a:xfrm>
            <a:off x="9619488" y="2514600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权重 0.15</a:t>
            </a:r>
            <a:endParaRPr/>
          </a:p>
        </p:txBody>
      </p:sp>
      <p:sp>
        <p:nvSpPr>
          <p:cNvPr id="513" name="TextBox 34"/>
          <p:cNvSpPr txBox="1"/>
          <p:nvPr/>
        </p:nvSpPr>
        <p:spPr>
          <a:xfrm>
            <a:off x="9710928" y="292608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竞争替代暴露</a:t>
            </a:r>
            <a:endParaRPr/>
          </a:p>
        </p:txBody>
      </p:sp>
      <p:sp>
        <p:nvSpPr>
          <p:cNvPr id="514" name="TextBox 35"/>
          <p:cNvSpPr txBox="1"/>
          <p:nvPr/>
        </p:nvSpPr>
        <p:spPr>
          <a:xfrm>
            <a:off x="9756648" y="338328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算力竞赛中的暴露程度</a:t>
            </a:r>
            <a:endParaRPr/>
          </a:p>
        </p:txBody>
      </p:sp>
      <p:sp>
        <p:nvSpPr>
          <p:cNvPr id="515" name="Rounded Rectangle 36"/>
          <p:cNvSpPr/>
          <p:nvPr/>
        </p:nvSpPr>
        <p:spPr>
          <a:xfrm>
            <a:off x="567055" y="4823460"/>
            <a:ext cx="10972800" cy="1371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TextBox 3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综合评分 = D1×0.25 + D2×0.20 + D3×0.20 + D4×0.20 + D5×0.15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17" name="TextBox 38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每维度1-5分锚点表预先设定（非事后拟合）  |  评分可回溯至10-K原文行号  |  30个观测全部展示验算式   |   跨市场验算：奥飞数据4.45、浪潮信息2.10（A股样本，证明模型跨市场适用）</a:t>
            </a:r>
            <a:endParaRPr/>
          </a:p>
        </p:txBody>
      </p:sp>
      <p:sp>
        <p:nvSpPr>
          <p:cNvPr id="518" name="Rectangle 39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TextBox 4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7 / 23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5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03</a:t>
            </a:r>
            <a:endParaRPr/>
          </a:p>
        </p:txBody>
      </p:sp>
      <p:sp>
        <p:nvSpPr>
          <p:cNvPr id="523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证据链标注体系：四列结构</a:t>
            </a:r>
            <a:endParaRPr/>
          </a:p>
        </p:txBody>
      </p:sp>
      <p:sp>
        <p:nvSpPr>
          <p:cNvPr id="524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525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以「原文-行号-会计含义-推断链」四列结构固化风险信号</a:t>
            </a:r>
            <a:endParaRPr/>
          </a:p>
        </p:txBody>
      </p:sp>
      <p:sp>
        <p:nvSpPr>
          <p:cNvPr id="526" name="Rounded Rectangle 6"/>
          <p:cNvSpPr/>
          <p:nvPr/>
        </p:nvSpPr>
        <p:spPr>
          <a:xfrm>
            <a:off x="548640" y="164592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Rounded Rectangle 7"/>
          <p:cNvSpPr/>
          <p:nvPr/>
        </p:nvSpPr>
        <p:spPr>
          <a:xfrm>
            <a:off x="1508760" y="1783080"/>
            <a:ext cx="731520" cy="73152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TextBox 8"/>
          <p:cNvSpPr txBox="1"/>
          <p:nvPr/>
        </p:nvSpPr>
        <p:spPr>
          <a:xfrm>
            <a:off x="1508760" y="17830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①</a:t>
            </a:r>
            <a:endParaRPr/>
          </a:p>
        </p:txBody>
      </p:sp>
      <p:sp>
        <p:nvSpPr>
          <p:cNvPr id="529" name="TextBox 9"/>
          <p:cNvSpPr txBox="1"/>
          <p:nvPr/>
        </p:nvSpPr>
        <p:spPr>
          <a:xfrm>
            <a:off x="548640" y="26060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原文摘录</a:t>
            </a:r>
            <a:endParaRPr/>
          </a:p>
        </p:txBody>
      </p:sp>
      <p:sp>
        <p:nvSpPr>
          <p:cNvPr id="530" name="TextBox 10"/>
          <p:cNvSpPr txBox="1"/>
          <p:nvPr/>
        </p:nvSpPr>
        <p:spPr>
          <a:xfrm>
            <a:off x="731520" y="301752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英文原文</a:t>
            </a:r>
            <a:br>
              <a:rPr/>
            </a:br>
            <a:r>
              <a:rPr/>
              <a:t>（含上下文1-2句）</a:t>
            </a:r>
            <a:endParaRPr/>
          </a:p>
        </p:txBody>
      </p:sp>
      <p:sp>
        <p:nvSpPr>
          <p:cNvPr id="531" name="Rectangle 11"/>
          <p:cNvSpPr/>
          <p:nvPr/>
        </p:nvSpPr>
        <p:spPr>
          <a:xfrm>
            <a:off x="1005840" y="3840480"/>
            <a:ext cx="1737360" cy="32004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TextBox 12"/>
          <p:cNvSpPr txBox="1"/>
          <p:nvPr/>
        </p:nvSpPr>
        <p:spPr>
          <a:xfrm>
            <a:off x="1005840" y="384048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可逐字复核</a:t>
            </a:r>
            <a:endParaRPr/>
          </a:p>
        </p:txBody>
      </p:sp>
      <p:sp>
        <p:nvSpPr>
          <p:cNvPr id="533" name="Rounded Rectangle 13"/>
          <p:cNvSpPr/>
          <p:nvPr/>
        </p:nvSpPr>
        <p:spPr>
          <a:xfrm>
            <a:off x="3429000" y="164592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Rounded Rectangle 14"/>
          <p:cNvSpPr/>
          <p:nvPr/>
        </p:nvSpPr>
        <p:spPr>
          <a:xfrm>
            <a:off x="4389120" y="1783080"/>
            <a:ext cx="731520" cy="7315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5" name="TextBox 15"/>
          <p:cNvSpPr txBox="1"/>
          <p:nvPr/>
        </p:nvSpPr>
        <p:spPr>
          <a:xfrm>
            <a:off x="4389120" y="17830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②</a:t>
            </a:r>
            <a:endParaRPr/>
          </a:p>
        </p:txBody>
      </p:sp>
      <p:sp>
        <p:nvSpPr>
          <p:cNvPr id="536" name="TextBox 16"/>
          <p:cNvSpPr txBox="1"/>
          <p:nvPr/>
        </p:nvSpPr>
        <p:spPr>
          <a:xfrm>
            <a:off x="3429000" y="26060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所在位置</a:t>
            </a:r>
            <a:endParaRPr/>
          </a:p>
        </p:txBody>
      </p:sp>
      <p:sp>
        <p:nvSpPr>
          <p:cNvPr id="537" name="TextBox 17"/>
          <p:cNvSpPr txBox="1"/>
          <p:nvPr/>
        </p:nvSpPr>
        <p:spPr>
          <a:xfrm>
            <a:off x="3611880" y="301752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章节+HTML行号</a:t>
            </a:r>
            <a:br>
              <a:rPr/>
            </a:br>
            <a:r>
              <a:rPr/>
              <a:t>（精确回溯）</a:t>
            </a:r>
            <a:endParaRPr/>
          </a:p>
        </p:txBody>
      </p:sp>
      <p:sp>
        <p:nvSpPr>
          <p:cNvPr id="538" name="Rectangle 18"/>
          <p:cNvSpPr/>
          <p:nvPr/>
        </p:nvSpPr>
        <p:spPr>
          <a:xfrm>
            <a:off x="3886200" y="3840480"/>
            <a:ext cx="1737360" cy="3200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TextBox 19"/>
          <p:cNvSpPr txBox="1"/>
          <p:nvPr/>
        </p:nvSpPr>
        <p:spPr>
          <a:xfrm>
            <a:off x="3886200" y="384048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可定位核验</a:t>
            </a:r>
            <a:endParaRPr/>
          </a:p>
        </p:txBody>
      </p:sp>
      <p:sp>
        <p:nvSpPr>
          <p:cNvPr id="540" name="Rounded Rectangle 20"/>
          <p:cNvSpPr/>
          <p:nvPr/>
        </p:nvSpPr>
        <p:spPr>
          <a:xfrm>
            <a:off x="6309359" y="164592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Rounded Rectangle 21"/>
          <p:cNvSpPr/>
          <p:nvPr/>
        </p:nvSpPr>
        <p:spPr>
          <a:xfrm>
            <a:off x="7269479" y="1783080"/>
            <a:ext cx="731520" cy="73152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TextBox 22"/>
          <p:cNvSpPr txBox="1"/>
          <p:nvPr/>
        </p:nvSpPr>
        <p:spPr>
          <a:xfrm>
            <a:off x="7269479" y="17830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③</a:t>
            </a:r>
            <a:endParaRPr/>
          </a:p>
        </p:txBody>
      </p:sp>
      <p:sp>
        <p:nvSpPr>
          <p:cNvPr id="543" name="TextBox 23"/>
          <p:cNvSpPr txBox="1"/>
          <p:nvPr/>
        </p:nvSpPr>
        <p:spPr>
          <a:xfrm>
            <a:off x="6309359" y="26060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会计含义</a:t>
            </a:r>
            <a:endParaRPr/>
          </a:p>
        </p:txBody>
      </p:sp>
      <p:sp>
        <p:nvSpPr>
          <p:cNvPr id="544" name="TextBox 24"/>
          <p:cNvSpPr txBox="1"/>
          <p:nvPr/>
        </p:nvSpPr>
        <p:spPr>
          <a:xfrm>
            <a:off x="6492240" y="301752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该表述在会计</a:t>
            </a:r>
            <a:br>
              <a:rPr/>
            </a:br>
            <a:r>
              <a:rPr/>
              <a:t>准则下的意义</a:t>
            </a:r>
            <a:endParaRPr/>
          </a:p>
        </p:txBody>
      </p:sp>
      <p:sp>
        <p:nvSpPr>
          <p:cNvPr id="545" name="Rectangle 25"/>
          <p:cNvSpPr/>
          <p:nvPr/>
        </p:nvSpPr>
        <p:spPr>
          <a:xfrm>
            <a:off x="6766559" y="3840480"/>
            <a:ext cx="1737360" cy="3200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TextBox 26"/>
          <p:cNvSpPr txBox="1"/>
          <p:nvPr/>
        </p:nvSpPr>
        <p:spPr>
          <a:xfrm>
            <a:off x="6766559" y="384048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连接文本与准则</a:t>
            </a:r>
            <a:endParaRPr/>
          </a:p>
        </p:txBody>
      </p:sp>
      <p:sp>
        <p:nvSpPr>
          <p:cNvPr id="547" name="Rounded Rectangle 27"/>
          <p:cNvSpPr/>
          <p:nvPr/>
        </p:nvSpPr>
        <p:spPr>
          <a:xfrm>
            <a:off x="9189719" y="164592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Rounded Rectangle 28"/>
          <p:cNvSpPr/>
          <p:nvPr/>
        </p:nvSpPr>
        <p:spPr>
          <a:xfrm>
            <a:off x="10149840" y="1783080"/>
            <a:ext cx="731520" cy="731520"/>
          </a:xfrm>
          <a:prstGeom prst="round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29"/>
          <p:cNvSpPr txBox="1"/>
          <p:nvPr/>
        </p:nvSpPr>
        <p:spPr>
          <a:xfrm>
            <a:off x="10149840" y="178308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④</a:t>
            </a:r>
            <a:endParaRPr/>
          </a:p>
        </p:txBody>
      </p:sp>
      <p:sp>
        <p:nvSpPr>
          <p:cNvPr id="550" name="TextBox 30"/>
          <p:cNvSpPr txBox="1"/>
          <p:nvPr/>
        </p:nvSpPr>
        <p:spPr>
          <a:xfrm>
            <a:off x="9189719" y="260604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风险推断</a:t>
            </a:r>
            <a:endParaRPr/>
          </a:p>
        </p:txBody>
      </p:sp>
      <p:sp>
        <p:nvSpPr>
          <p:cNvPr id="551" name="TextBox 31"/>
          <p:cNvSpPr txBox="1"/>
          <p:nvPr/>
        </p:nvSpPr>
        <p:spPr>
          <a:xfrm>
            <a:off x="9372599" y="301752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编号推断链：</a:t>
            </a:r>
            <a:br>
              <a:rPr/>
            </a:br>
            <a:r>
              <a:rPr/>
              <a:t>事实-&gt;矛盾-&gt;影响</a:t>
            </a:r>
            <a:endParaRPr/>
          </a:p>
        </p:txBody>
      </p:sp>
      <p:sp>
        <p:nvSpPr>
          <p:cNvPr id="552" name="Rectangle 32"/>
          <p:cNvSpPr/>
          <p:nvPr/>
        </p:nvSpPr>
        <p:spPr>
          <a:xfrm>
            <a:off x="9646919" y="3840480"/>
            <a:ext cx="1737360" cy="32004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TextBox 33"/>
          <p:cNvSpPr txBox="1"/>
          <p:nvPr/>
        </p:nvSpPr>
        <p:spPr>
          <a:xfrm>
            <a:off x="9646919" y="3840480"/>
            <a:ext cx="1737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从证据到结论</a:t>
            </a:r>
            <a:endParaRPr/>
          </a:p>
        </p:txBody>
      </p:sp>
      <p:sp>
        <p:nvSpPr>
          <p:cNvPr id="554" name="Rounded Rectangle 34"/>
          <p:cNvSpPr/>
          <p:nvPr/>
        </p:nvSpPr>
        <p:spPr>
          <a:xfrm>
            <a:off x="548640" y="4663440"/>
            <a:ext cx="10972800" cy="155448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TextBox 35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信度与效度保障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56" name="TextBox 36"/>
          <p:cNvSpPr txBox="1"/>
          <p:nvPr/>
        </p:nvSpPr>
        <p:spPr>
          <a:xfrm>
            <a:off x="9144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所有引文逐字核对于10-K原文并附行号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30个观测综合评分全部展示验算式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标注实行「AI草拟+人工复核」双签制度</a:t>
            </a:r>
            <a:endParaRPr/>
          </a:p>
        </p:txBody>
      </p:sp>
      <p:sp>
        <p:nvSpPr>
          <p:cNvPr id="557" name="TextBox 37"/>
          <p:cNvSpPr txBox="1"/>
          <p:nvPr/>
        </p:nvSpPr>
        <p:spPr>
          <a:xfrm>
            <a:off x="64008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锚点表预先设定，评分非事后拟合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基准锚样本（Meta=4.0）校准相对排序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✓ 双向验证：Oracle 5-&gt;6年逐字证实、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   Intel 5-&gt;8年精准区分（避免张冠李戴）</a:t>
            </a:r>
            <a:endParaRPr/>
          </a:p>
        </p:txBody>
      </p:sp>
      <p:sp>
        <p:nvSpPr>
          <p:cNvPr id="558" name="Rectangle 3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TextBox 3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8 / 23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5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04</a:t>
            </a:r>
            <a:endParaRPr/>
          </a:p>
        </p:txBody>
      </p:sp>
      <p:sp>
        <p:nvSpPr>
          <p:cNvPr id="563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实证结果：30份面板样本</a:t>
            </a:r>
            <a:endParaRPr/>
          </a:p>
        </p:txBody>
      </p:sp>
      <p:sp>
        <p:nvSpPr>
          <p:cNvPr id="564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565" name="TextBox 5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面板结构：10家 x 3财年 = 30个观测（含TSLA制造+AI混合型）</a:t>
            </a:r>
            <a:endParaRPr/>
          </a:p>
        </p:txBody>
      </p:sp>
      <p:sp>
        <p:nvSpPr>
          <p:cNvPr id="566" name="Rounded Rectangle 6"/>
          <p:cNvSpPr/>
          <p:nvPr/>
        </p:nvSpPr>
        <p:spPr>
          <a:xfrm>
            <a:off x="548640" y="155448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Rectangle 7"/>
          <p:cNvSpPr/>
          <p:nvPr/>
        </p:nvSpPr>
        <p:spPr>
          <a:xfrm>
            <a:off x="548640" y="1554480"/>
            <a:ext cx="91440" cy="77724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TextBox 8"/>
          <p:cNvSpPr txBox="1"/>
          <p:nvPr/>
        </p:nvSpPr>
        <p:spPr>
          <a:xfrm>
            <a:off x="777240" y="16276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运营型（自建自营算力）</a:t>
            </a:r>
            <a:endParaRPr/>
          </a:p>
        </p:txBody>
      </p:sp>
      <p:sp>
        <p:nvSpPr>
          <p:cNvPr id="569" name="TextBox 9"/>
          <p:cNvSpPr txBox="1"/>
          <p:nvPr/>
        </p:nvSpPr>
        <p:spPr>
          <a:xfrm>
            <a:off x="777240" y="19385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META | GOOGL | MSFT | ORCL</a:t>
            </a:r>
            <a:endParaRPr/>
          </a:p>
        </p:txBody>
      </p:sp>
      <p:sp>
        <p:nvSpPr>
          <p:cNvPr id="570" name="Rounded Rectangle 10"/>
          <p:cNvSpPr/>
          <p:nvPr/>
        </p:nvSpPr>
        <p:spPr>
          <a:xfrm>
            <a:off x="548640" y="246888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Rectangle 11"/>
          <p:cNvSpPr/>
          <p:nvPr/>
        </p:nvSpPr>
        <p:spPr>
          <a:xfrm>
            <a:off x="548640" y="2468880"/>
            <a:ext cx="91440" cy="7772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TextBox 12"/>
          <p:cNvSpPr txBox="1"/>
          <p:nvPr/>
        </p:nvSpPr>
        <p:spPr>
          <a:xfrm>
            <a:off x="777240" y="25420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设计型（fabless芯片）</a:t>
            </a:r>
            <a:endParaRPr/>
          </a:p>
        </p:txBody>
      </p:sp>
      <p:sp>
        <p:nvSpPr>
          <p:cNvPr id="573" name="TextBox 13"/>
          <p:cNvSpPr txBox="1"/>
          <p:nvPr/>
        </p:nvSpPr>
        <p:spPr>
          <a:xfrm>
            <a:off x="777240" y="28529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NVDA | AMD</a:t>
            </a:r>
            <a:endParaRPr/>
          </a:p>
        </p:txBody>
      </p:sp>
      <p:sp>
        <p:nvSpPr>
          <p:cNvPr id="574" name="Rounded Rectangle 14"/>
          <p:cNvSpPr/>
          <p:nvPr/>
        </p:nvSpPr>
        <p:spPr>
          <a:xfrm>
            <a:off x="548640" y="338328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Rectangle 15"/>
          <p:cNvSpPr/>
          <p:nvPr/>
        </p:nvSpPr>
        <p:spPr>
          <a:xfrm>
            <a:off x="548640" y="3383280"/>
            <a:ext cx="91440" cy="7772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TextBox 16"/>
          <p:cNvSpPr txBox="1"/>
          <p:nvPr/>
        </p:nvSpPr>
        <p:spPr>
          <a:xfrm>
            <a:off x="777240" y="34564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制造+AI混合型</a:t>
            </a:r>
            <a:endParaRPr/>
          </a:p>
        </p:txBody>
      </p:sp>
      <p:sp>
        <p:nvSpPr>
          <p:cNvPr id="577" name="TextBox 17"/>
          <p:cNvSpPr txBox="1"/>
          <p:nvPr/>
        </p:nvSpPr>
        <p:spPr>
          <a:xfrm>
            <a:off x="777240" y="37673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INTC | MU | TSLA</a:t>
            </a:r>
            <a:endParaRPr/>
          </a:p>
        </p:txBody>
      </p:sp>
      <p:sp>
        <p:nvSpPr>
          <p:cNvPr id="578" name="Rounded Rectangle 18"/>
          <p:cNvSpPr/>
          <p:nvPr/>
        </p:nvSpPr>
        <p:spPr>
          <a:xfrm>
            <a:off x="548640" y="4297680"/>
            <a:ext cx="5303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19"/>
          <p:cNvSpPr/>
          <p:nvPr/>
        </p:nvSpPr>
        <p:spPr>
          <a:xfrm>
            <a:off x="548640" y="4297680"/>
            <a:ext cx="91440" cy="777240"/>
          </a:xfrm>
          <a:prstGeom prst="rect">
            <a:avLst/>
          </a:prstGeom>
          <a:solidFill>
            <a:srgbClr val="5BB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TextBox 20"/>
          <p:cNvSpPr txBox="1"/>
          <p:nvPr/>
        </p:nvSpPr>
        <p:spPr>
          <a:xfrm>
            <a:off x="777240" y="437083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软件型（SaaS）</a:t>
            </a:r>
            <a:endParaRPr/>
          </a:p>
        </p:txBody>
      </p:sp>
      <p:sp>
        <p:nvSpPr>
          <p:cNvPr id="581" name="TextBox 21"/>
          <p:cNvSpPr txBox="1"/>
          <p:nvPr/>
        </p:nvSpPr>
        <p:spPr>
          <a:xfrm>
            <a:off x="777240" y="468172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CRM</a:t>
            </a:r>
            <a:endParaRPr/>
          </a:p>
        </p:txBody>
      </p:sp>
      <p:pic>
        <p:nvPicPr>
          <p:cNvPr id="582" name="Picture 22" descr="heat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4072890" cy="4114800"/>
          </a:xfrm>
          <a:prstGeom prst="rect">
            <a:avLst/>
          </a:prstGeom>
        </p:spPr>
      </p:pic>
      <p:sp>
        <p:nvSpPr>
          <p:cNvPr id="583" name="TextBox 23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面板总览三大发现</a:t>
            </a:r>
            <a:endParaRPr/>
          </a:p>
        </p:txBody>
      </p:sp>
      <p:sp>
        <p:nvSpPr>
          <p:cNvPr id="584" name="Rounded Rectangle 24"/>
          <p:cNvSpPr/>
          <p:nvPr/>
        </p:nvSpPr>
        <p:spPr>
          <a:xfrm>
            <a:off x="548640" y="5669280"/>
            <a:ext cx="3474720" cy="82296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TextBox 25"/>
          <p:cNvSpPr txBox="1"/>
          <p:nvPr/>
        </p:nvSpPr>
        <p:spPr>
          <a:xfrm>
            <a:off x="685800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连续延长者</a:t>
            </a:r>
            <a:endParaRPr/>
          </a:p>
        </p:txBody>
      </p:sp>
      <p:sp>
        <p:nvSpPr>
          <p:cNvPr id="586" name="TextBox 26"/>
          <p:cNvSpPr txBox="1"/>
          <p:nvPr/>
        </p:nvSpPr>
        <p:spPr>
          <a:xfrm>
            <a:off x="685800" y="5989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Oracle与Meta三年内两次触及变更年，每次变更年评分均显著跳升</a:t>
            </a:r>
            <a:br>
              <a:rPr/>
            </a:br>
            <a:endParaRPr/>
          </a:p>
        </p:txBody>
      </p:sp>
      <p:sp>
        <p:nvSpPr>
          <p:cNvPr id="587" name="Rounded Rectangle 27"/>
          <p:cNvSpPr/>
          <p:nvPr/>
        </p:nvSpPr>
        <p:spPr>
          <a:xfrm>
            <a:off x="4297679" y="5669280"/>
            <a:ext cx="3474720" cy="82296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TextBox 28"/>
          <p:cNvSpPr txBox="1"/>
          <p:nvPr/>
        </p:nvSpPr>
        <p:spPr>
          <a:xfrm>
            <a:off x="4434840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系统性评分差</a:t>
            </a:r>
            <a:endParaRPr/>
          </a:p>
        </p:txBody>
      </p:sp>
      <p:sp>
        <p:nvSpPr>
          <p:cNvPr id="589" name="TextBox 29"/>
          <p:cNvSpPr txBox="1"/>
          <p:nvPr/>
        </p:nvSpPr>
        <p:spPr>
          <a:xfrm>
            <a:off x="4434840" y="5989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变更年均值4.25 vs 非变更年3.43，差值0.82分，高度共现</a:t>
            </a:r>
            <a:br>
              <a:rPr/>
            </a:br>
            <a:endParaRPr/>
          </a:p>
        </p:txBody>
      </p:sp>
      <p:sp>
        <p:nvSpPr>
          <p:cNvPr id="590" name="Rounded Rectangle 30"/>
          <p:cNvSpPr/>
          <p:nvPr/>
        </p:nvSpPr>
        <p:spPr>
          <a:xfrm>
            <a:off x="8046719" y="5669280"/>
            <a:ext cx="3474720" cy="822960"/>
          </a:xfrm>
          <a:prstGeom prst="round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TextBox 31"/>
          <p:cNvSpPr txBox="1"/>
          <p:nvPr/>
        </p:nvSpPr>
        <p:spPr>
          <a:xfrm>
            <a:off x="8183879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无变更也升分</a:t>
            </a:r>
            <a:endParaRPr/>
          </a:p>
        </p:txBody>
      </p:sp>
      <p:sp>
        <p:nvSpPr>
          <p:cNvPr id="592" name="TextBox 32"/>
          <p:cNvSpPr txBox="1"/>
          <p:nvPr/>
        </p:nvSpPr>
        <p:spPr>
          <a:xfrm>
            <a:off x="8183879" y="5989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NVDA三年连升(2.85-&gt;3.45)，风险可由资产敞口驱动</a:t>
            </a:r>
            <a:br>
              <a:rPr/>
            </a:br>
            <a:endParaRPr/>
          </a:p>
        </p:txBody>
      </p:sp>
      <p:sp>
        <p:nvSpPr>
          <p:cNvPr id="593" name="Rectangle 33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4" name="TextBox 3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9 / 23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04</a:t>
            </a:r>
            <a:endParaRPr/>
          </a:p>
        </p:txBody>
      </p:sp>
      <p:sp>
        <p:nvSpPr>
          <p:cNvPr id="15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风险排行榜与雷达对比</a:t>
            </a:r>
            <a:endParaRPr/>
          </a:p>
        </p:txBody>
      </p:sp>
      <p:sp>
        <p:nvSpPr>
          <p:cNvPr id="16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pic>
        <p:nvPicPr>
          <p:cNvPr id="17" name="Picture 5" descr="rank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6858000" cy="3047615"/>
          </a:xfrm>
          <a:prstGeom prst="rect">
            <a:avLst/>
          </a:prstGeom>
        </p:spPr>
      </p:pic>
      <p:pic>
        <p:nvPicPr>
          <p:cNvPr id="18" name="Picture 6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05840"/>
            <a:ext cx="4572000" cy="3871642"/>
          </a:xfrm>
          <a:prstGeom prst="rect">
            <a:avLst/>
          </a:prstGeom>
        </p:spPr>
      </p:pic>
      <p:sp>
        <p:nvSpPr>
          <p:cNvPr id="19" name="Rounded Rectangle 7"/>
          <p:cNvSpPr/>
          <p:nvPr/>
        </p:nvSpPr>
        <p:spPr>
          <a:xfrm>
            <a:off x="548640" y="5303520"/>
            <a:ext cx="10972800" cy="109728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8"/>
          <p:cNvSpPr txBox="1"/>
          <p:nvPr/>
        </p:nvSpPr>
        <p:spPr>
          <a:xfrm>
            <a:off x="914400" y="5440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三段式结构：5家高风险(≥4.0) + 3家中高风险(3.1-3.6) + 2家中风险(≤2.4)</a:t>
            </a:r>
            <a:endParaRPr/>
          </a:p>
        </p:txBody>
      </p:sp>
      <p:sp>
        <p:nvSpPr>
          <p:cNvPr id="21" name="TextBox 9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重资产的制造型与运营型霸榜高风险区；轻资产的设计型与软件型居于榜尾--排序完全由模型内生生成</a:t>
            </a:r>
            <a:endParaRPr/>
          </a:p>
        </p:txBody>
      </p:sp>
      <p:sp>
        <p:nvSpPr>
          <p:cNvPr id="22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10 / 23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04</a:t>
            </a:r>
            <a:endParaRPr/>
          </a:p>
        </p:txBody>
      </p:sp>
      <p:sp>
        <p:nvSpPr>
          <p:cNvPr id="27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核心发现：估计变更共振与连续延长者</a:t>
            </a:r>
            <a:endParaRPr/>
          </a:p>
        </p:txBody>
      </p:sp>
      <p:sp>
        <p:nvSpPr>
          <p:cNvPr id="28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pic>
        <p:nvPicPr>
          <p:cNvPr id="29" name="Picture 5" descr="tim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7772400" cy="2634772"/>
          </a:xfrm>
          <a:prstGeom prst="rect">
            <a:avLst/>
          </a:prstGeom>
        </p:spPr>
      </p:pic>
      <p:pic>
        <p:nvPicPr>
          <p:cNvPr id="30" name="Picture 6" descr="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005840"/>
            <a:ext cx="3474720" cy="3110634"/>
          </a:xfrm>
          <a:prstGeom prst="rect">
            <a:avLst/>
          </a:prstGeom>
        </p:spPr>
      </p:pic>
      <p:sp>
        <p:nvSpPr>
          <p:cNvPr id="31" name="Rounded Rectangle 7"/>
          <p:cNvSpPr/>
          <p:nvPr/>
        </p:nvSpPr>
        <p:spPr>
          <a:xfrm>
            <a:off x="548640" y="43891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8"/>
          <p:cNvSpPr/>
          <p:nvPr/>
        </p:nvSpPr>
        <p:spPr>
          <a:xfrm>
            <a:off x="548640" y="4389120"/>
            <a:ext cx="5303520" cy="41148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9"/>
          <p:cNvSpPr txBox="1"/>
          <p:nvPr/>
        </p:nvSpPr>
        <p:spPr>
          <a:xfrm>
            <a:off x="548640" y="4389120"/>
            <a:ext cx="5303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发现② 估计变更共振</a:t>
            </a:r>
            <a:endParaRPr/>
          </a:p>
        </p:txBody>
      </p:sp>
      <p:sp>
        <p:nvSpPr>
          <p:cNvPr id="34" name="TextBox 10"/>
          <p:cNvSpPr txBox="1"/>
          <p:nvPr/>
        </p:nvSpPr>
        <p:spPr>
          <a:xfrm>
            <a:off x="822960" y="49377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- 6家公司在约12个月内同步延长折旧年限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恰好在ChatGPT发布（2022.11）引爆AI资本开支的同一时点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Oracle与Meta在窗口后再次延长 -&gt; 「连续延长者」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Meta 2025年1月进一步延长至5.5年，Amazon反向缩回5年</a:t>
            </a:r>
            <a:endParaRPr/>
          </a:p>
        </p:txBody>
      </p:sp>
      <p:sp>
        <p:nvSpPr>
          <p:cNvPr id="35" name="Rounded Rectangle 11"/>
          <p:cNvSpPr/>
          <p:nvPr/>
        </p:nvSpPr>
        <p:spPr>
          <a:xfrm>
            <a:off x="6126480" y="438912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12"/>
          <p:cNvSpPr/>
          <p:nvPr/>
        </p:nvSpPr>
        <p:spPr>
          <a:xfrm>
            <a:off x="6126480" y="4389120"/>
            <a:ext cx="5486400" cy="4114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3"/>
          <p:cNvSpPr txBox="1"/>
          <p:nvPr/>
        </p:nvSpPr>
        <p:spPr>
          <a:xfrm>
            <a:off x="6126480" y="4389120"/>
            <a:ext cx="5486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面板级佐证：变更年评分显著更高</a:t>
            </a:r>
            <a:endParaRPr/>
          </a:p>
        </p:txBody>
      </p:sp>
      <p:sp>
        <p:nvSpPr>
          <p:cNvPr id="38" name="TextBox 14"/>
          <p:cNvSpPr txBox="1"/>
          <p:nvPr/>
        </p:nvSpPr>
        <p:spPr>
          <a:xfrm>
            <a:off x="6400800" y="49377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- 8个变更年观测评分均值 = 4.25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- 22个非变更年观测评分均值 = 3.43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差值 0.82 分--折旧年限延长事件与高风险评分高度共现</a:t>
            </a:r>
            <a:endParaRPr/>
          </a:p>
          <a:p>
            <a:pPr algn="l">
              <a:lnSpc>
                <a:spcPct val="15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R4预警规则在面板层面无漏报</a:t>
            </a:r>
            <a:endParaRPr/>
          </a:p>
        </p:txBody>
      </p:sp>
      <p:sp>
        <p:nvSpPr>
          <p:cNvPr id="39" name="Rectangle 1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11 / 23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04</a:t>
            </a:r>
            <a:endParaRPr/>
          </a:p>
        </p:txBody>
      </p:sp>
      <p:sp>
        <p:nvSpPr>
          <p:cNvPr id="44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核心发现：折旧指纹与通道分化</a:t>
            </a:r>
            <a:endParaRPr/>
          </a:p>
        </p:txBody>
      </p:sp>
      <p:sp>
        <p:nvSpPr>
          <p:cNvPr id="45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46" name="Rounded Rectangle 5"/>
          <p:cNvSpPr/>
          <p:nvPr/>
        </p:nvSpPr>
        <p:spPr>
          <a:xfrm>
            <a:off x="548640" y="109728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6"/>
          <p:cNvSpPr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发现③ 折旧指纹：资产在涨、折旧在降</a:t>
            </a:r>
            <a:endParaRPr/>
          </a:p>
        </p:txBody>
      </p:sp>
      <p:sp>
        <p:nvSpPr>
          <p:cNvPr id="49" name="TextBox 8"/>
          <p:cNvSpPr txBox="1"/>
          <p:nvPr/>
        </p:nvSpPr>
        <p:spPr>
          <a:xfrm>
            <a:off x="822960" y="14630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GOOGL：净PP&amp;E +19%，折旧费用 -11.35%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($13,475M -&gt; $11,946M)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MSFT：PP&amp;E原值 +29%，FY2023折旧低于FY2022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-&gt; 「资产基数扩张 x 折旧费用停滞/下降」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可作为不依赖附注文本的量化筛查信号</a:t>
            </a:r>
            <a:endParaRPr/>
          </a:p>
        </p:txBody>
      </p:sp>
      <p:sp>
        <p:nvSpPr>
          <p:cNvPr id="50" name="Rounded Rectangle 9"/>
          <p:cNvSpPr/>
          <p:nvPr/>
        </p:nvSpPr>
        <p:spPr>
          <a:xfrm>
            <a:off x="548640" y="4197350"/>
            <a:ext cx="54864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0"/>
          <p:cNvSpPr/>
          <p:nvPr/>
        </p:nvSpPr>
        <p:spPr>
          <a:xfrm>
            <a:off x="626745" y="3838575"/>
            <a:ext cx="548640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11"/>
          <p:cNvSpPr txBox="1"/>
          <p:nvPr/>
        </p:nvSpPr>
        <p:spPr>
          <a:xfrm>
            <a:off x="731520" y="3838575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发现④ 风险的通道分化与表外迁移</a:t>
            </a:r>
            <a:endParaRPr/>
          </a:p>
        </p:txBody>
      </p:sp>
      <p:sp>
        <p:nvSpPr>
          <p:cNvPr id="53" name="Rectangle 12"/>
          <p:cNvSpPr/>
          <p:nvPr/>
        </p:nvSpPr>
        <p:spPr>
          <a:xfrm>
            <a:off x="822960" y="4476750"/>
            <a:ext cx="731520" cy="32004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3"/>
          <p:cNvSpPr txBox="1"/>
          <p:nvPr/>
        </p:nvSpPr>
        <p:spPr>
          <a:xfrm>
            <a:off x="822960" y="448056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运营型</a:t>
            </a:r>
            <a:endParaRPr/>
          </a:p>
        </p:txBody>
      </p:sp>
      <p:sp>
        <p:nvSpPr>
          <p:cNvPr id="55" name="TextBox 14"/>
          <p:cNvSpPr txBox="1"/>
          <p:nvPr/>
        </p:nvSpPr>
        <p:spPr>
          <a:xfrm>
            <a:off x="1737360" y="447675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藏在折旧表里（年限延长）</a:t>
            </a:r>
            <a:endParaRPr/>
          </a:p>
        </p:txBody>
      </p:sp>
      <p:sp>
        <p:nvSpPr>
          <p:cNvPr id="56" name="Rectangle 15"/>
          <p:cNvSpPr/>
          <p:nvPr/>
        </p:nvSpPr>
        <p:spPr>
          <a:xfrm>
            <a:off x="822960" y="5029200"/>
            <a:ext cx="731520" cy="320040"/>
          </a:xfrm>
          <a:prstGeom prst="rect">
            <a:avLst/>
          </a:prstGeom>
          <a:solidFill>
            <a:srgbClr val="5BB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6"/>
          <p:cNvSpPr txBox="1"/>
          <p:nvPr/>
        </p:nvSpPr>
        <p:spPr>
          <a:xfrm>
            <a:off x="822960" y="502920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设计型</a:t>
            </a:r>
            <a:endParaRPr/>
          </a:p>
        </p:txBody>
      </p:sp>
      <p:sp>
        <p:nvSpPr>
          <p:cNvPr id="58" name="TextBox 17"/>
          <p:cNvSpPr txBox="1"/>
          <p:nvPr/>
        </p:nvSpPr>
        <p:spPr>
          <a:xfrm>
            <a:off x="1737360" y="50292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砸在存货里（NVDA拨备$774M）</a:t>
            </a:r>
            <a:endParaRPr/>
          </a:p>
        </p:txBody>
      </p:sp>
      <p:sp>
        <p:nvSpPr>
          <p:cNvPr id="59" name="Rectangle 18"/>
          <p:cNvSpPr/>
          <p:nvPr/>
        </p:nvSpPr>
        <p:spPr>
          <a:xfrm>
            <a:off x="822960" y="5600700"/>
            <a:ext cx="731520" cy="3200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19"/>
          <p:cNvSpPr txBox="1"/>
          <p:nvPr/>
        </p:nvSpPr>
        <p:spPr>
          <a:xfrm>
            <a:off x="822960" y="557784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制造型</a:t>
            </a:r>
            <a:endParaRPr/>
          </a:p>
        </p:txBody>
      </p:sp>
      <p:sp>
        <p:nvSpPr>
          <p:cNvPr id="61" name="TextBox 20"/>
          <p:cNvSpPr txBox="1"/>
          <p:nvPr/>
        </p:nvSpPr>
        <p:spPr>
          <a:xfrm>
            <a:off x="1815465" y="5598795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已兑现为减值（MU $1.83B+$101M）</a:t>
            </a:r>
            <a:endParaRPr/>
          </a:p>
        </p:txBody>
      </p:sp>
      <p:sp>
        <p:nvSpPr>
          <p:cNvPr id="62" name="Rectangle 21"/>
          <p:cNvSpPr/>
          <p:nvPr/>
        </p:nvSpPr>
        <p:spPr>
          <a:xfrm>
            <a:off x="822960" y="6160770"/>
            <a:ext cx="731520" cy="32004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2"/>
          <p:cNvSpPr txBox="1"/>
          <p:nvPr/>
        </p:nvSpPr>
        <p:spPr>
          <a:xfrm>
            <a:off x="822960" y="6149340"/>
            <a:ext cx="731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软件型</a:t>
            </a:r>
            <a:endParaRPr/>
          </a:p>
        </p:txBody>
      </p:sp>
      <p:sp>
        <p:nvSpPr>
          <p:cNvPr id="64" name="TextBox 23"/>
          <p:cNvSpPr txBox="1"/>
          <p:nvPr/>
        </p:nvSpPr>
        <p:spPr>
          <a:xfrm>
            <a:off x="1815465" y="6160135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转嫁给供应商（CRM租用算力）</a:t>
            </a:r>
            <a:endParaRPr/>
          </a:p>
        </p:txBody>
      </p:sp>
      <p:pic>
        <p:nvPicPr>
          <p:cNvPr id="65" name="Picture 24" descr="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015" y="1097280"/>
            <a:ext cx="5264150" cy="2769235"/>
          </a:xfrm>
          <a:prstGeom prst="rect">
            <a:avLst/>
          </a:prstGeom>
        </p:spPr>
      </p:pic>
      <p:sp>
        <p:nvSpPr>
          <p:cNvPr id="66" name="TextBox 25"/>
          <p:cNvSpPr txBox="1"/>
          <p:nvPr/>
        </p:nvSpPr>
        <p:spPr>
          <a:xfrm>
            <a:off x="6470015" y="4039235"/>
            <a:ext cx="5285740" cy="4413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发现① 风险 = 假设激进度 x 资产敞口  |  CAPEX/收入在SHAP重要性排名第1（30样本·55特征全量面板）</a:t>
            </a:r>
            <a:endParaRPr/>
          </a:p>
        </p:txBody>
      </p:sp>
      <p:sp>
        <p:nvSpPr>
          <p:cNvPr id="67" name="Rectangle 2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12 / 23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05</a:t>
            </a:r>
            <a:endParaRPr/>
          </a:p>
        </p:txBody>
      </p:sp>
      <p:sp>
        <p:nvSpPr>
          <p:cNvPr id="72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风险管理体系：三层闭环</a:t>
            </a:r>
            <a:endParaRPr/>
          </a:p>
        </p:txBody>
      </p:sp>
      <p:sp>
        <p:nvSpPr>
          <p:cNvPr id="73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74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看得见风险 -&gt; 管得住过程 -&gt; 降得下损失</a:t>
            </a:r>
            <a:endParaRPr/>
          </a:p>
        </p:txBody>
      </p:sp>
      <p:sp>
        <p:nvSpPr>
          <p:cNvPr id="75" name="Rounded Rectangle 6"/>
          <p:cNvSpPr/>
          <p:nvPr/>
        </p:nvSpPr>
        <p:spPr>
          <a:xfrm>
            <a:off x="548640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"/>
          <p:cNvSpPr/>
          <p:nvPr/>
        </p:nvSpPr>
        <p:spPr>
          <a:xfrm>
            <a:off x="548640" y="1645920"/>
            <a:ext cx="3474720" cy="82296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8"/>
          <p:cNvSpPr txBox="1"/>
          <p:nvPr/>
        </p:nvSpPr>
        <p:spPr>
          <a:xfrm>
            <a:off x="548640" y="1645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看得见</a:t>
            </a:r>
            <a:endParaRPr/>
          </a:p>
        </p:txBody>
      </p:sp>
      <p:sp>
        <p:nvSpPr>
          <p:cNvPr id="78" name="TextBox 9"/>
          <p:cNvSpPr txBox="1"/>
          <p:nvPr/>
        </p:nvSpPr>
        <p:spPr>
          <a:xfrm>
            <a:off x="548640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风险识别</a:t>
            </a:r>
            <a:endParaRPr/>
          </a:p>
        </p:txBody>
      </p:sp>
      <p:sp>
        <p:nvSpPr>
          <p:cNvPr id="79" name="TextBox 10"/>
          <p:cNvSpPr txBox="1"/>
          <p:nvPr/>
        </p:nvSpPr>
        <p:spPr>
          <a:xfrm>
            <a:off x="822959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证据链标注体系（四列结构）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- 5D-DRS五维评分模型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智能识别系统（Streamlit开源）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- 30份confirmed标注库</a:t>
            </a:r>
            <a:endParaRPr/>
          </a:p>
        </p:txBody>
      </p:sp>
      <p:sp>
        <p:nvSpPr>
          <p:cNvPr id="80" name="TextBox 11"/>
          <p:cNvSpPr txBox="1"/>
          <p:nvPr/>
        </p:nvSpPr>
        <p:spPr>
          <a:xfrm>
            <a:off x="393192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81" name="Rounded Rectangle 12"/>
          <p:cNvSpPr/>
          <p:nvPr/>
        </p:nvSpPr>
        <p:spPr>
          <a:xfrm>
            <a:off x="4297679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13"/>
          <p:cNvSpPr/>
          <p:nvPr/>
        </p:nvSpPr>
        <p:spPr>
          <a:xfrm>
            <a:off x="4297679" y="1645920"/>
            <a:ext cx="3474720" cy="8229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14"/>
          <p:cNvSpPr txBox="1"/>
          <p:nvPr/>
        </p:nvSpPr>
        <p:spPr>
          <a:xfrm>
            <a:off x="4297679" y="1645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管得住</a:t>
            </a:r>
            <a:endParaRPr/>
          </a:p>
        </p:txBody>
      </p:sp>
      <p:sp>
        <p:nvSpPr>
          <p:cNvPr id="84" name="TextBox 15"/>
          <p:cNvSpPr txBox="1"/>
          <p:nvPr/>
        </p:nvSpPr>
        <p:spPr>
          <a:xfrm>
            <a:off x="4297679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过程管控</a:t>
            </a:r>
            <a:endParaRPr/>
          </a:p>
        </p:txBody>
      </p:sp>
      <p:sp>
        <p:nvSpPr>
          <p:cNvPr id="85" name="TextBox 16"/>
          <p:cNvSpPr txBox="1"/>
          <p:nvPr/>
        </p:nvSpPr>
        <p:spPr>
          <a:xfrm>
            <a:off x="4571999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R1 折旧指纹规则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R2 年限错配规则（≥2.5倍）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R3 CAPEX强度规则（≥15%/25%）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R4 估计变更规则（立即触发）</a:t>
            </a:r>
            <a:endParaRPr/>
          </a:p>
        </p:txBody>
      </p:sp>
      <p:sp>
        <p:nvSpPr>
          <p:cNvPr id="86" name="TextBox 17"/>
          <p:cNvSpPr txBox="1"/>
          <p:nvPr/>
        </p:nvSpPr>
        <p:spPr>
          <a:xfrm>
            <a:off x="7680959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87" name="Rounded Rectangle 18"/>
          <p:cNvSpPr/>
          <p:nvPr/>
        </p:nvSpPr>
        <p:spPr>
          <a:xfrm>
            <a:off x="8046719" y="1645920"/>
            <a:ext cx="34747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19"/>
          <p:cNvSpPr/>
          <p:nvPr/>
        </p:nvSpPr>
        <p:spPr>
          <a:xfrm>
            <a:off x="8046719" y="1645920"/>
            <a:ext cx="3474720" cy="82296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20"/>
          <p:cNvSpPr txBox="1"/>
          <p:nvPr/>
        </p:nvSpPr>
        <p:spPr>
          <a:xfrm>
            <a:off x="8046719" y="1645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降得下</a:t>
            </a:r>
            <a:endParaRPr/>
          </a:p>
        </p:txBody>
      </p:sp>
      <p:sp>
        <p:nvSpPr>
          <p:cNvPr id="90" name="TextBox 21"/>
          <p:cNvSpPr txBox="1"/>
          <p:nvPr/>
        </p:nvSpPr>
        <p:spPr>
          <a:xfrm>
            <a:off x="8046719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损失管控</a:t>
            </a:r>
            <a:endParaRPr/>
          </a:p>
        </p:txBody>
      </p:sp>
      <p:sp>
        <p:nvSpPr>
          <p:cNvPr id="91" name="TextBox 22"/>
          <p:cNvSpPr txBox="1"/>
          <p:nvPr/>
        </p:nvSpPr>
        <p:spPr>
          <a:xfrm>
            <a:off x="8321040" y="26517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企业：合规折旧优化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保险：科创保险创新 DMVI/ESI（减值波动险 + 资产置换险）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监管：RegTech批量筛查</a:t>
            </a:r>
            <a:endParaRPr/>
          </a:p>
          <a:p>
            <a:pPr algn="l">
              <a:lnSpc>
                <a:spcPct val="160000"/>
              </a:lnSpc>
              <a:spcAft>
                <a:spcPts val="400"/>
              </a:spcAft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三级演进路线-&gt;语义识别（详见保险创新产品专页）</a:t>
            </a:r>
            <a:endParaRPr/>
          </a:p>
        </p:txBody>
      </p:sp>
      <p:sp>
        <p:nvSpPr>
          <p:cNvPr id="92" name="Rounded Rectangle 23"/>
          <p:cNvSpPr/>
          <p:nvPr/>
        </p:nvSpPr>
        <p:spPr>
          <a:xfrm>
            <a:off x="548640" y="5669280"/>
            <a:ext cx="10972800" cy="7772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24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tx1"/>
                </a:solidFill>
              </a:rPr>
              <a:t>双通道监测：R4（文本信号）+ R1/R2/R3（财务指纹）-&gt; 不看附注也能初筛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4" name="TextBox 25"/>
          <p:cNvSpPr txBox="1"/>
          <p:nvPr/>
        </p:nvSpPr>
        <p:spPr>
          <a:xfrm>
            <a:off x="914400" y="60350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面板佐证：8个变更观测全部触发R4，变更年评分均值4.25显著高于非变更年3.43</a:t>
            </a:r>
            <a:endParaRPr/>
          </a:p>
        </p:txBody>
      </p:sp>
      <p:sp>
        <p:nvSpPr>
          <p:cNvPr id="95" name="Rectangle 2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13 / 23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05</a:t>
            </a:r>
            <a:endParaRPr/>
          </a:p>
        </p:txBody>
      </p:sp>
      <p:sp>
        <p:nvSpPr>
          <p:cNvPr id="100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科创企业资产折旧风险智能识别系统</a:t>
            </a:r>
            <a:endParaRPr/>
          </a:p>
        </p:txBody>
      </p:sp>
      <p:sp>
        <p:nvSpPr>
          <p:cNvPr id="101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102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Streamlit架构 | 代码开源（GitHub） | 七大功能页面 | DeepSeek AI智能标注 | FastAPI接口 | RAG/FinBERT（技术深化·报告6.7）</a:t>
            </a:r>
            <a:endParaRPr/>
          </a:p>
        </p:txBody>
      </p:sp>
      <p:sp>
        <p:nvSpPr>
          <p:cNvPr id="103" name="Rounded Rectangle 6"/>
          <p:cNvSpPr/>
          <p:nvPr/>
        </p:nvSpPr>
        <p:spPr>
          <a:xfrm>
            <a:off x="548640" y="16459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7"/>
          <p:cNvSpPr/>
          <p:nvPr/>
        </p:nvSpPr>
        <p:spPr>
          <a:xfrm>
            <a:off x="548640" y="1645920"/>
            <a:ext cx="2651760" cy="45720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8"/>
          <p:cNvSpPr txBox="1"/>
          <p:nvPr/>
        </p:nvSpPr>
        <p:spPr>
          <a:xfrm>
            <a:off x="548640" y="16459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P1-P3</a:t>
            </a:r>
            <a:endParaRPr/>
          </a:p>
        </p:txBody>
      </p:sp>
      <p:sp>
        <p:nvSpPr>
          <p:cNvPr id="106" name="TextBox 9"/>
          <p:cNvSpPr txBox="1"/>
          <p:nvPr/>
        </p:nvSpPr>
        <p:spPr>
          <a:xfrm>
            <a:off x="548640" y="2194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案例库与评分展示</a:t>
            </a:r>
            <a:endParaRPr/>
          </a:p>
        </p:txBody>
      </p:sp>
      <p:sp>
        <p:nvSpPr>
          <p:cNvPr id="107" name="TextBox 10"/>
          <p:cNvSpPr txBox="1"/>
          <p:nvPr/>
        </p:nvSpPr>
        <p:spPr>
          <a:xfrm>
            <a:off x="73152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30份标注库</a:t>
            </a:r>
            <a:br>
              <a:rPr/>
            </a:br>
            <a:r>
              <a:rPr/>
              <a:t>五维雷达图</a:t>
            </a:r>
            <a:br>
              <a:rPr/>
            </a:br>
            <a:r>
              <a:rPr/>
              <a:t>风险信号列表</a:t>
            </a:r>
            <a:endParaRPr/>
          </a:p>
        </p:txBody>
      </p:sp>
      <p:sp>
        <p:nvSpPr>
          <p:cNvPr id="108" name="Rounded Rectangle 11"/>
          <p:cNvSpPr/>
          <p:nvPr/>
        </p:nvSpPr>
        <p:spPr>
          <a:xfrm>
            <a:off x="3429000" y="16459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2"/>
          <p:cNvSpPr/>
          <p:nvPr/>
        </p:nvSpPr>
        <p:spPr>
          <a:xfrm>
            <a:off x="3429000" y="1645920"/>
            <a:ext cx="2651760" cy="4572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3"/>
          <p:cNvSpPr txBox="1"/>
          <p:nvPr/>
        </p:nvSpPr>
        <p:spPr>
          <a:xfrm>
            <a:off x="3429000" y="16459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P4-P5</a:t>
            </a:r>
            <a:endParaRPr/>
          </a:p>
        </p:txBody>
      </p:sp>
      <p:sp>
        <p:nvSpPr>
          <p:cNvPr id="111" name="TextBox 14"/>
          <p:cNvSpPr txBox="1"/>
          <p:nvPr/>
        </p:nvSpPr>
        <p:spPr>
          <a:xfrm>
            <a:off x="3429000" y="2194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风险信号详情</a:t>
            </a:r>
            <a:endParaRPr/>
          </a:p>
        </p:txBody>
      </p:sp>
      <p:sp>
        <p:nvSpPr>
          <p:cNvPr id="112" name="TextBox 15"/>
          <p:cNvSpPr txBox="1"/>
          <p:nvPr/>
        </p:nvSpPr>
        <p:spPr>
          <a:xfrm>
            <a:off x="361188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逐条信号展示</a:t>
            </a:r>
            <a:br>
              <a:rPr/>
            </a:br>
            <a:r>
              <a:rPr/>
              <a:t>严重度分级</a:t>
            </a:r>
            <a:br>
              <a:rPr/>
            </a:br>
            <a:r>
              <a:rPr/>
              <a:t>原文证据核对</a:t>
            </a:r>
            <a:endParaRPr/>
          </a:p>
        </p:txBody>
      </p:sp>
      <p:sp>
        <p:nvSpPr>
          <p:cNvPr id="113" name="Rounded Rectangle 16"/>
          <p:cNvSpPr/>
          <p:nvPr/>
        </p:nvSpPr>
        <p:spPr>
          <a:xfrm>
            <a:off x="6309359" y="16459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7"/>
          <p:cNvSpPr/>
          <p:nvPr/>
        </p:nvSpPr>
        <p:spPr>
          <a:xfrm>
            <a:off x="6309359" y="1645920"/>
            <a:ext cx="2651760" cy="4572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8"/>
          <p:cNvSpPr txBox="1"/>
          <p:nvPr/>
        </p:nvSpPr>
        <p:spPr>
          <a:xfrm>
            <a:off x="6309359" y="16459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P6</a:t>
            </a:r>
            <a:endParaRPr/>
          </a:p>
        </p:txBody>
      </p:sp>
      <p:sp>
        <p:nvSpPr>
          <p:cNvPr id="116" name="TextBox 19"/>
          <p:cNvSpPr txBox="1"/>
          <p:nvPr/>
        </p:nvSpPr>
        <p:spPr>
          <a:xfrm>
            <a:off x="6309359" y="2194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实时评分引擎</a:t>
            </a:r>
            <a:endParaRPr/>
          </a:p>
        </p:txBody>
      </p:sp>
      <p:sp>
        <p:nvSpPr>
          <p:cNvPr id="117" name="TextBox 20"/>
          <p:cNvSpPr txBox="1"/>
          <p:nvPr/>
        </p:nvSpPr>
        <p:spPr>
          <a:xfrm>
            <a:off x="649224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输入财务指标</a:t>
            </a:r>
            <a:br>
              <a:rPr/>
            </a:br>
            <a:r>
              <a:rPr/>
              <a:t>XGBoost模型推理</a:t>
            </a:r>
            <a:br>
              <a:rPr/>
            </a:br>
            <a:r>
              <a:rPr/>
              <a:t>SHAP驱动因素解释</a:t>
            </a:r>
            <a:endParaRPr/>
          </a:p>
        </p:txBody>
      </p:sp>
      <p:sp>
        <p:nvSpPr>
          <p:cNvPr id="118" name="Rounded Rectangle 21"/>
          <p:cNvSpPr/>
          <p:nvPr/>
        </p:nvSpPr>
        <p:spPr>
          <a:xfrm>
            <a:off x="9189719" y="164592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22"/>
          <p:cNvSpPr/>
          <p:nvPr/>
        </p:nvSpPr>
        <p:spPr>
          <a:xfrm>
            <a:off x="9189719" y="1645920"/>
            <a:ext cx="2651760" cy="45720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23"/>
          <p:cNvSpPr txBox="1"/>
          <p:nvPr/>
        </p:nvSpPr>
        <p:spPr>
          <a:xfrm>
            <a:off x="9189719" y="164592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P7</a:t>
            </a:r>
            <a:endParaRPr/>
          </a:p>
        </p:txBody>
      </p:sp>
      <p:sp>
        <p:nvSpPr>
          <p:cNvPr id="121" name="TextBox 24"/>
          <p:cNvSpPr txBox="1"/>
          <p:nvPr/>
        </p:nvSpPr>
        <p:spPr>
          <a:xfrm>
            <a:off x="9189719" y="219456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AI智能标注</a:t>
            </a:r>
            <a:endParaRPr/>
          </a:p>
        </p:txBody>
      </p:sp>
      <p:sp>
        <p:nvSpPr>
          <p:cNvPr id="122" name="TextBox 25"/>
          <p:cNvSpPr txBox="1"/>
          <p:nvPr/>
        </p:nvSpPr>
        <p:spPr>
          <a:xfrm>
            <a:off x="9372599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DeepSeek-V3 API</a:t>
            </a:r>
            <a:br>
              <a:rPr/>
            </a:br>
            <a:r>
              <a:rPr/>
              <a:t>六步流水线</a:t>
            </a:r>
            <a:br>
              <a:rPr/>
            </a:br>
            <a:r>
              <a:rPr/>
              <a:t>分钟级完成标注</a:t>
            </a:r>
            <a:endParaRPr/>
          </a:p>
        </p:txBody>
      </p:sp>
      <p:sp>
        <p:nvSpPr>
          <p:cNvPr id="123" name="TextBox 26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P7 AI智能标注：六步流水线</a:t>
            </a:r>
            <a:endParaRPr/>
          </a:p>
        </p:txBody>
      </p:sp>
      <p:sp>
        <p:nvSpPr>
          <p:cNvPr id="124" name="Rounded Rectangle 27"/>
          <p:cNvSpPr/>
          <p:nvPr/>
        </p:nvSpPr>
        <p:spPr>
          <a:xfrm>
            <a:off x="731520" y="4663440"/>
            <a:ext cx="1463040" cy="73152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28"/>
          <p:cNvSpPr txBox="1"/>
          <p:nvPr/>
        </p:nvSpPr>
        <p:spPr>
          <a:xfrm>
            <a:off x="731520" y="4663440"/>
            <a:ext cx="146304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EDGAR</a:t>
            </a:r>
            <a:br>
              <a:rPr/>
            </a:br>
            <a:r>
              <a:rPr/>
              <a:t>自动下载</a:t>
            </a:r>
            <a:endParaRPr/>
          </a:p>
        </p:txBody>
      </p:sp>
      <p:sp>
        <p:nvSpPr>
          <p:cNvPr id="126" name="TextBox 29"/>
          <p:cNvSpPr txBox="1"/>
          <p:nvPr/>
        </p:nvSpPr>
        <p:spPr>
          <a:xfrm>
            <a:off x="2148840" y="4754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127" name="Rounded Rectangle 30"/>
          <p:cNvSpPr/>
          <p:nvPr/>
        </p:nvSpPr>
        <p:spPr>
          <a:xfrm>
            <a:off x="2606039" y="4663440"/>
            <a:ext cx="1463040" cy="731520"/>
          </a:xfrm>
          <a:prstGeom prst="round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31"/>
          <p:cNvSpPr txBox="1"/>
          <p:nvPr/>
        </p:nvSpPr>
        <p:spPr>
          <a:xfrm>
            <a:off x="2606039" y="46634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关键词</a:t>
            </a:r>
            <a:br>
              <a:rPr/>
            </a:br>
            <a:r>
              <a:rPr/>
              <a:t>全文定位</a:t>
            </a:r>
            <a:endParaRPr/>
          </a:p>
        </p:txBody>
      </p:sp>
      <p:sp>
        <p:nvSpPr>
          <p:cNvPr id="129" name="TextBox 32"/>
          <p:cNvSpPr txBox="1"/>
          <p:nvPr/>
        </p:nvSpPr>
        <p:spPr>
          <a:xfrm>
            <a:off x="4023359" y="4754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130" name="Rounded Rectangle 33"/>
          <p:cNvSpPr/>
          <p:nvPr/>
        </p:nvSpPr>
        <p:spPr>
          <a:xfrm>
            <a:off x="4480559" y="4663440"/>
            <a:ext cx="1463040" cy="7315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34"/>
          <p:cNvSpPr txBox="1"/>
          <p:nvPr/>
        </p:nvSpPr>
        <p:spPr>
          <a:xfrm>
            <a:off x="4480559" y="46634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DeepSeek</a:t>
            </a:r>
            <a:br>
              <a:rPr/>
            </a:br>
            <a:r>
              <a:rPr/>
              <a:t>语义标注</a:t>
            </a:r>
            <a:endParaRPr/>
          </a:p>
        </p:txBody>
      </p:sp>
      <p:sp>
        <p:nvSpPr>
          <p:cNvPr id="132" name="TextBox 35"/>
          <p:cNvSpPr txBox="1"/>
          <p:nvPr/>
        </p:nvSpPr>
        <p:spPr>
          <a:xfrm>
            <a:off x="5897879" y="4754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133" name="Rounded Rectangle 36"/>
          <p:cNvSpPr/>
          <p:nvPr/>
        </p:nvSpPr>
        <p:spPr>
          <a:xfrm>
            <a:off x="6355079" y="4663440"/>
            <a:ext cx="1463040" cy="73152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37"/>
          <p:cNvSpPr txBox="1"/>
          <p:nvPr/>
        </p:nvSpPr>
        <p:spPr>
          <a:xfrm>
            <a:off x="6355079" y="46634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验真</a:t>
            </a:r>
            <a:br>
              <a:rPr/>
            </a:br>
            <a:r>
              <a:rPr/>
              <a:t>(一致性/噪声)</a:t>
            </a:r>
            <a:endParaRPr/>
          </a:p>
        </p:txBody>
      </p:sp>
      <p:sp>
        <p:nvSpPr>
          <p:cNvPr id="135" name="TextBox 38"/>
          <p:cNvSpPr txBox="1"/>
          <p:nvPr/>
        </p:nvSpPr>
        <p:spPr>
          <a:xfrm>
            <a:off x="7772400" y="4754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136" name="Rounded Rectangle 39"/>
          <p:cNvSpPr/>
          <p:nvPr/>
        </p:nvSpPr>
        <p:spPr>
          <a:xfrm>
            <a:off x="8229600" y="4663440"/>
            <a:ext cx="1463040" cy="731520"/>
          </a:xfrm>
          <a:prstGeom prst="roundRect">
            <a:avLst/>
          </a:prstGeom>
          <a:solidFill>
            <a:srgbClr val="5BB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40"/>
          <p:cNvSpPr txBox="1"/>
          <p:nvPr/>
        </p:nvSpPr>
        <p:spPr>
          <a:xfrm>
            <a:off x="8229600" y="4663440"/>
            <a:ext cx="1463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评分</a:t>
            </a:r>
            <a:br>
              <a:rPr/>
            </a:br>
            <a:r>
              <a:rPr/>
              <a:t>校准</a:t>
            </a:r>
            <a:endParaRPr/>
          </a:p>
        </p:txBody>
      </p:sp>
      <p:sp>
        <p:nvSpPr>
          <p:cNvPr id="138" name="TextBox 41"/>
          <p:cNvSpPr txBox="1"/>
          <p:nvPr/>
        </p:nvSpPr>
        <p:spPr>
          <a:xfrm>
            <a:off x="9646920" y="4754880"/>
            <a:ext cx="457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-&gt;</a:t>
            </a:r>
            <a:endParaRPr/>
          </a:p>
        </p:txBody>
      </p:sp>
      <p:sp>
        <p:nvSpPr>
          <p:cNvPr id="139" name="Rounded Rectangle 42"/>
          <p:cNvSpPr/>
          <p:nvPr/>
        </p:nvSpPr>
        <p:spPr>
          <a:xfrm>
            <a:off x="10104120" y="4663440"/>
            <a:ext cx="1463040" cy="73152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43"/>
          <p:cNvSpPr txBox="1"/>
          <p:nvPr/>
        </p:nvSpPr>
        <p:spPr>
          <a:xfrm>
            <a:off x="10104120" y="4663440"/>
            <a:ext cx="146304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结果</a:t>
            </a:r>
            <a:br>
              <a:rPr/>
            </a:br>
            <a:r>
              <a:rPr/>
              <a:t>导出JSON</a:t>
            </a:r>
            <a:endParaRPr/>
          </a:p>
        </p:txBody>
      </p:sp>
      <p:sp>
        <p:nvSpPr>
          <p:cNvPr id="141" name="TextBox 44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  <a:defRPr sz="11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竞赛价值：评委可亲手操作--选择公司看评分、看雷达图、点开信号核对原文与行号；P6录入指标现场看模型推理。GitHub: github.com/zhongyang-260714/depreciation-risk-detection</a:t>
            </a:r>
            <a:br>
              <a:rPr/>
            </a:br>
            <a:endParaRPr/>
          </a:p>
        </p:txBody>
      </p:sp>
      <p:sp>
        <p:nvSpPr>
          <p:cNvPr id="142" name="Rectangle 4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4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14 / 23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  <a:endParaRPr/>
          </a:p>
        </p:txBody>
      </p:sp>
      <p:sp>
        <p:nvSpPr>
          <p:cNvPr id="147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三级干预机制：绿黄红动态风控</a:t>
            </a:r>
            <a:endParaRPr/>
          </a:p>
        </p:txBody>
      </p:sp>
      <p:sp>
        <p:nvSpPr>
          <p:cNvPr id="148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149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15 / 23</a:t>
            </a:r>
            <a:endParaRPr/>
          </a:p>
        </p:txBody>
      </p:sp>
      <p:sp>
        <p:nvSpPr>
          <p:cNvPr id="151" name="Rounded Rectangle 7"/>
          <p:cNvSpPr/>
          <p:nvPr/>
        </p:nvSpPr>
        <p:spPr>
          <a:xfrm>
            <a:off x="548640" y="164592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8"/>
          <p:cNvSpPr/>
          <p:nvPr/>
        </p:nvSpPr>
        <p:spPr>
          <a:xfrm>
            <a:off x="548640" y="1645920"/>
            <a:ext cx="3474720" cy="7772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9"/>
          <p:cNvSpPr txBox="1"/>
          <p:nvPr/>
        </p:nvSpPr>
        <p:spPr>
          <a:xfrm>
            <a:off x="640080" y="1700784"/>
            <a:ext cx="3291839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🟢 绿色区间（&lt;2.5）常规监测</a:t>
            </a:r>
            <a:endParaRPr/>
          </a:p>
        </p:txBody>
      </p:sp>
      <p:sp>
        <p:nvSpPr>
          <p:cNvPr id="154" name="TextBox 10"/>
          <p:cNvSpPr txBox="1"/>
          <p:nvPr/>
        </p:nvSpPr>
        <p:spPr>
          <a:xfrm>
            <a:off x="658368" y="2468879"/>
            <a:ext cx="3255263" cy="329183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典型标的：AMD(2.40)、CRM(2.10)、浪潮信息(2.10)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动作：年度复核 + 关注风险迁移（如AMD摊销、寒武纪存货）</a:t>
            </a:r>
            <a:endParaRPr/>
          </a:p>
        </p:txBody>
      </p:sp>
      <p:sp>
        <p:nvSpPr>
          <p:cNvPr id="155" name="Rounded Rectangle 11"/>
          <p:cNvSpPr/>
          <p:nvPr/>
        </p:nvSpPr>
        <p:spPr>
          <a:xfrm>
            <a:off x="4297680" y="164592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2"/>
          <p:cNvSpPr/>
          <p:nvPr/>
        </p:nvSpPr>
        <p:spPr>
          <a:xfrm>
            <a:off x="4297680" y="1645920"/>
            <a:ext cx="3474720" cy="777240"/>
          </a:xfrm>
          <a:prstGeom prst="rect">
            <a:avLst/>
          </a:prstGeom>
          <a:solidFill>
            <a:srgbClr val="C9A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3"/>
          <p:cNvSpPr txBox="1"/>
          <p:nvPr/>
        </p:nvSpPr>
        <p:spPr>
          <a:xfrm>
            <a:off x="4389120" y="1700784"/>
            <a:ext cx="3291839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🟡 黄色区间（2.5-3.9）预警提示</a:t>
            </a:r>
            <a:endParaRPr/>
          </a:p>
        </p:txBody>
      </p:sp>
      <p:sp>
        <p:nvSpPr>
          <p:cNvPr id="158" name="TextBox 14"/>
          <p:cNvSpPr txBox="1"/>
          <p:nvPr/>
        </p:nvSpPr>
        <p:spPr>
          <a:xfrm>
            <a:off x="4407408" y="2468879"/>
            <a:ext cx="3255263" cy="329183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典型标的：Tesla(3.20)、NVIDIA(3.10)、数据港(3.00)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动作：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企业：CAPEX≥15% 启动专项审查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保险：保费上调 10-20%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投资：利润含金量下调一档</a:t>
            </a:r>
            <a:endParaRPr/>
          </a:p>
        </p:txBody>
      </p:sp>
      <p:sp>
        <p:nvSpPr>
          <p:cNvPr id="159" name="Rounded Rectangle 15"/>
          <p:cNvSpPr/>
          <p:nvPr/>
        </p:nvSpPr>
        <p:spPr>
          <a:xfrm>
            <a:off x="8046720" y="164592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6"/>
          <p:cNvSpPr/>
          <p:nvPr/>
        </p:nvSpPr>
        <p:spPr>
          <a:xfrm>
            <a:off x="8046720" y="1645920"/>
            <a:ext cx="3474720" cy="77724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7"/>
          <p:cNvSpPr txBox="1"/>
          <p:nvPr/>
        </p:nvSpPr>
        <p:spPr>
          <a:xfrm>
            <a:off x="8138160" y="1700784"/>
            <a:ext cx="3291839" cy="6858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🔴 红色区间（≥4.0）强制干预</a:t>
            </a:r>
            <a:endParaRPr/>
          </a:p>
        </p:txBody>
      </p:sp>
      <p:sp>
        <p:nvSpPr>
          <p:cNvPr id="162" name="TextBox 18"/>
          <p:cNvSpPr txBox="1"/>
          <p:nvPr/>
        </p:nvSpPr>
        <p:spPr>
          <a:xfrm>
            <a:off x="8156448" y="2468879"/>
            <a:ext cx="3255263" cy="329183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典型标的：Intel(4.55)、奥飞数据(4.45)、Google(4.25)、Meta(4.00)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动作：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保险：保费×评分系数(4.0→1.3, 4.5→1.6)，强制提交减值测试报告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投资：估值扣减折旧缺口，持仓限额≤10%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监管：纳入RegTech重点监测，估计变更共振自动上报</a:t>
            </a:r>
            <a:endParaRPr/>
          </a:p>
        </p:txBody>
      </p:sp>
      <p:sp>
        <p:nvSpPr>
          <p:cNvPr id="163" name="TextBox 19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升级/降级规则：评分随年度复核动态调整；「连续延长者」特例——Oracle / Meta 保持红色观察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  <a:endParaRPr/>
          </a:p>
        </p:txBody>
      </p:sp>
      <p:sp>
        <p:nvSpPr>
          <p:cNvPr id="167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把折旧风险变成可定价的保险标的：DMVI &amp; ESI</a:t>
            </a:r>
            <a:endParaRPr/>
          </a:p>
        </p:txBody>
      </p:sp>
      <p:sp>
        <p:nvSpPr>
          <p:cNvPr id="168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169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16 / 23</a:t>
            </a:r>
            <a:endParaRPr/>
          </a:p>
        </p:txBody>
      </p:sp>
      <p:sp>
        <p:nvSpPr>
          <p:cNvPr id="171" name="Rounded Rectangle 7"/>
          <p:cNvSpPr/>
          <p:nvPr/>
        </p:nvSpPr>
        <p:spPr>
          <a:xfrm>
            <a:off x="548640" y="1554480"/>
            <a:ext cx="5486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8"/>
          <p:cNvSpPr/>
          <p:nvPr/>
        </p:nvSpPr>
        <p:spPr>
          <a:xfrm>
            <a:off x="548640" y="1554480"/>
            <a:ext cx="5486400" cy="566928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9"/>
          <p:cNvSpPr txBox="1"/>
          <p:nvPr/>
        </p:nvSpPr>
        <p:spPr>
          <a:xfrm>
            <a:off x="640080" y="1572768"/>
            <a:ext cx="530352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DMVI（科创资产减值波动险）</a:t>
            </a:r>
            <a:endParaRPr/>
          </a:p>
        </p:txBody>
      </p:sp>
      <p:sp>
        <p:nvSpPr>
          <p:cNvPr id="174" name="TextBox 10"/>
          <p:cNvSpPr txBox="1"/>
          <p:nvPr/>
        </p:nvSpPr>
        <p:spPr>
          <a:xfrm>
            <a:off x="731520" y="2240280"/>
            <a:ext cx="5120640" cy="3931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定位：面向持有AI科技股仓位的机构投资者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被保险名单：5D-DRS动态生成的高风险标的池（评分≥4.0 或 R1命中）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三层触发：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① 会计事件触发（硬）：披露年限延长且评分跳升≥0.5 → 立即理赔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② 市场反应触发（软）：计提大额减值且股价跌幅≥10%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③ 行业共振触发（宏）：同行业≥3家同步延长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保额公式：持仓市值 × (评分÷5.0) × 保障比例(10%/15%/20%)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示例：Meta持仓1亿，评分4.60 → 保额 = 1亿×0.92×15% = 1,380万（年保费66.24万）</a:t>
            </a:r>
            <a:endParaRPr/>
          </a:p>
        </p:txBody>
      </p:sp>
      <p:sp>
        <p:nvSpPr>
          <p:cNvPr id="175" name="Rounded Rectangle 11"/>
          <p:cNvSpPr/>
          <p:nvPr/>
        </p:nvSpPr>
        <p:spPr>
          <a:xfrm>
            <a:off x="6309360" y="1554480"/>
            <a:ext cx="530352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2"/>
          <p:cNvSpPr/>
          <p:nvPr/>
        </p:nvSpPr>
        <p:spPr>
          <a:xfrm>
            <a:off x="6309360" y="1554480"/>
            <a:ext cx="5303520" cy="566928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3"/>
          <p:cNvSpPr txBox="1"/>
          <p:nvPr/>
        </p:nvSpPr>
        <p:spPr>
          <a:xfrm>
            <a:off x="6400800" y="1572768"/>
            <a:ext cx="5120640" cy="530352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ESI（科创资产置换保险）</a:t>
            </a:r>
            <a:endParaRPr/>
          </a:p>
        </p:txBody>
      </p:sp>
      <p:sp>
        <p:nvSpPr>
          <p:cNvPr id="178" name="TextBox 14"/>
          <p:cNvSpPr txBox="1"/>
          <p:nvPr/>
        </p:nvSpPr>
        <p:spPr>
          <a:xfrm>
            <a:off x="6492240" y="2240280"/>
            <a:ext cx="4937760" cy="3931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定位：股权交换结构化产品——以资产置换替代现金赔付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三层结构：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① 保险层：股价下跌≥15% → 现金赔付保额×10%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② 交换层：科技股 : 防御性资产 = 1 : 0.8（国债ETF / 红利ETF / 黄金ETF）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③ 对赌层：2年内反弹分成（&lt;交换价:平安全得；交换价-120%:各50%；&gt;120%:投资者赎回50%）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创新点：投资者「软着陆」+ 平安长期股权收益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555"/>
                </a:solidFill>
                <a:latin typeface="微软雅黑"/>
              </a:rPr>
              <a:t>合规架构：保险层（平安产险）+ 信托层（平安信托）双层结构</a:t>
            </a:r>
            <a:endParaRPr/>
          </a:p>
        </p:txBody>
      </p:sp>
      <p:sp>
        <p:nvSpPr>
          <p:cNvPr id="179" name="TextBox 15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E1B2E"/>
                </a:solidFill>
                <a:latin typeface="微软雅黑"/>
              </a:rPr>
              <a:t>与平安现有30+款科技保险产品衔接：基础包 / 进阶包 / 旗舰包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  <a:endParaRPr/>
          </a:p>
        </p:txBody>
      </p:sp>
      <p:sp>
        <p:nvSpPr>
          <p:cNvPr id="183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面向中国平安的专属落地路径</a:t>
            </a:r>
            <a:endParaRPr/>
          </a:p>
        </p:txBody>
      </p:sp>
      <p:sp>
        <p:nvSpPr>
          <p:cNvPr id="184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185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17 / 23</a:t>
            </a:r>
            <a:endParaRPr/>
          </a:p>
        </p:txBody>
      </p:sp>
      <p:sp>
        <p:nvSpPr>
          <p:cNvPr id="187" name="Rounded Rectangle 7"/>
          <p:cNvSpPr/>
          <p:nvPr/>
        </p:nvSpPr>
        <p:spPr>
          <a:xfrm>
            <a:off x="548640" y="16459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8"/>
          <p:cNvSpPr/>
          <p:nvPr/>
        </p:nvSpPr>
        <p:spPr>
          <a:xfrm>
            <a:off x="548640" y="1645920"/>
            <a:ext cx="3474720" cy="68580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9"/>
          <p:cNvSpPr txBox="1"/>
          <p:nvPr/>
        </p:nvSpPr>
        <p:spPr>
          <a:xfrm>
            <a:off x="640080" y="1700784"/>
            <a:ext cx="3291839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当前对接（已可实现）</a:t>
            </a:r>
            <a:endParaRPr/>
          </a:p>
        </p:txBody>
      </p:sp>
      <p:sp>
        <p:nvSpPr>
          <p:cNvPr id="190" name="TextBox 10"/>
          <p:cNvSpPr txBox="1"/>
          <p:nvPr/>
        </p:nvSpPr>
        <p:spPr>
          <a:xfrm>
            <a:off x="658368" y="2377439"/>
            <a:ext cx="3255263" cy="3657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核保筛查标签嵌入：5D-DRS评分作为风险筛查标签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投贷筛查：R1-R4规则嵌入尽调流程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风险减量：折旧政策健康度年度体检</a:t>
            </a:r>
            <a:endParaRPr/>
          </a:p>
        </p:txBody>
      </p:sp>
      <p:sp>
        <p:nvSpPr>
          <p:cNvPr id="191" name="Rounded Rectangle 11"/>
          <p:cNvSpPr/>
          <p:nvPr/>
        </p:nvSpPr>
        <p:spPr>
          <a:xfrm>
            <a:off x="4297680" y="16459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2"/>
          <p:cNvSpPr/>
          <p:nvPr/>
        </p:nvSpPr>
        <p:spPr>
          <a:xfrm>
            <a:off x="4297680" y="1645920"/>
            <a:ext cx="3474720" cy="6858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3"/>
          <p:cNvSpPr txBox="1"/>
          <p:nvPr/>
        </p:nvSpPr>
        <p:spPr>
          <a:xfrm>
            <a:off x="4389120" y="1700784"/>
            <a:ext cx="3291839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近期预见（6-12个月）</a:t>
            </a:r>
            <a:endParaRPr/>
          </a:p>
        </p:txBody>
      </p:sp>
      <p:sp>
        <p:nvSpPr>
          <p:cNvPr id="194" name="TextBox 14"/>
          <p:cNvSpPr txBox="1"/>
          <p:nvPr/>
        </p:nvSpPr>
        <p:spPr>
          <a:xfrm>
            <a:off x="4407408" y="2377439"/>
            <a:ext cx="3255263" cy="3657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行业级「折旧变更共振」→ 保险费率动态调整机制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「连续延长者」第三次变更 → 减值窗口预警服务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中国智算中心建设潮 → 「智算设备折旧缺口补偿险」</a:t>
            </a:r>
            <a:endParaRPr/>
          </a:p>
        </p:txBody>
      </p:sp>
      <p:sp>
        <p:nvSpPr>
          <p:cNvPr id="195" name="Rounded Rectangle 15"/>
          <p:cNvSpPr/>
          <p:nvPr/>
        </p:nvSpPr>
        <p:spPr>
          <a:xfrm>
            <a:off x="8046720" y="1645920"/>
            <a:ext cx="347472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6"/>
          <p:cNvSpPr/>
          <p:nvPr/>
        </p:nvSpPr>
        <p:spPr>
          <a:xfrm>
            <a:off x="8046720" y="1645920"/>
            <a:ext cx="3474720" cy="685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7"/>
          <p:cNvSpPr txBox="1"/>
          <p:nvPr/>
        </p:nvSpPr>
        <p:spPr>
          <a:xfrm>
            <a:off x="8138160" y="1700784"/>
            <a:ext cx="3291839" cy="5943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中期愿景（1-3年）</a:t>
            </a:r>
            <a:endParaRPr/>
          </a:p>
        </p:txBody>
      </p:sp>
      <p:sp>
        <p:nvSpPr>
          <p:cNvPr id="198" name="TextBox 18"/>
          <p:cNvSpPr txBox="1"/>
          <p:nvPr/>
        </p:nvSpPr>
        <p:spPr>
          <a:xfrm>
            <a:off x="8156448" y="2377439"/>
            <a:ext cx="3255263" cy="3657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数据资产化：标注库授权使用（年度订阅 / 按次计费）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55555"/>
                </a:solidFill>
                <a:latin typeface="微软雅黑"/>
              </a:rPr>
              <a:t>• 本土化：方法论迁移至A股 / 港股</a:t>
            </a:r>
            <a:endParaRPr/>
          </a:p>
        </p:txBody>
      </p:sp>
      <p:sp>
        <p:nvSpPr>
          <p:cNvPr id="199" name=""/>
          <p:cNvSpPr/>
          <p:nvPr/>
        </p:nvSpPr>
        <p:spPr>
          <a:xfrm>
            <a:off x="546100" y="61976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r>
              <a:rPr lang="zh-CN" sz="1000">
                <a:solidFill>
                  <a:srgbClr val="0E1B2E"/>
                </a:solidFill>
                <a:latin typeface="微软雅黑"/>
                <a:ea typeface="微软雅黑"/>
              </a:rPr>
              <a:t>与平安产险鹰眼系统DRS3.0互补：鹰眼覆盖自然灾害与意外事故（物理风险），本系统覆盖折旧错配（财务风险），构成「物理+财务」双覆盖，呼应科技金融「保」环节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2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05</a:t>
            </a:r>
            <a:endParaRPr/>
          </a:p>
        </p:txBody>
      </p:sp>
      <p:sp>
        <p:nvSpPr>
          <p:cNvPr id="203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三类主体落地方案</a:t>
            </a:r>
            <a:endParaRPr/>
          </a:p>
        </p:txBody>
      </p:sp>
      <p:sp>
        <p:nvSpPr>
          <p:cNvPr id="204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205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面向科创企业、保险机构、监管审计的可执行方案</a:t>
            </a:r>
            <a:endParaRPr/>
          </a:p>
        </p:txBody>
      </p:sp>
      <p:sp>
        <p:nvSpPr>
          <p:cNvPr id="206" name="Rounded Rectangle 6"/>
          <p:cNvSpPr/>
          <p:nvPr/>
        </p:nvSpPr>
        <p:spPr>
          <a:xfrm>
            <a:off x="548640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ectangle 7"/>
          <p:cNvSpPr/>
          <p:nvPr/>
        </p:nvSpPr>
        <p:spPr>
          <a:xfrm>
            <a:off x="548640" y="1645920"/>
            <a:ext cx="3474720" cy="82296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8"/>
          <p:cNvSpPr txBox="1"/>
          <p:nvPr/>
        </p:nvSpPr>
        <p:spPr>
          <a:xfrm>
            <a:off x="548640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科创企业</a:t>
            </a:r>
            <a:endParaRPr/>
          </a:p>
        </p:txBody>
      </p:sp>
      <p:sp>
        <p:nvSpPr>
          <p:cNvPr id="209" name="TextBox 9"/>
          <p:cNvSpPr txBox="1"/>
          <p:nvPr/>
        </p:nvSpPr>
        <p:spPr>
          <a:xfrm>
            <a:off x="548640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合规折旧优化</a:t>
            </a:r>
            <a:endParaRPr/>
          </a:p>
        </p:txBody>
      </p:sp>
      <p:sp>
        <p:nvSpPr>
          <p:cNvPr id="210" name="TextBox 10"/>
          <p:cNvSpPr txBox="1"/>
          <p:nvPr/>
        </p:nvSpPr>
        <p:spPr>
          <a:xfrm>
            <a:off x="731520" y="2651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管理动作一</a:t>
            </a:r>
            <a:endParaRPr/>
          </a:p>
        </p:txBody>
      </p:sp>
      <p:sp>
        <p:nvSpPr>
          <p:cNvPr id="211" name="TextBox 11"/>
          <p:cNvSpPr txBox="1"/>
          <p:nvPr/>
        </p:nvSpPr>
        <p:spPr>
          <a:xfrm>
            <a:off x="731520" y="2926079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用足合法加速折旧工具箱</a:t>
            </a:r>
            <a:br>
              <a:rPr/>
            </a:br>
            <a:r>
              <a:rPr/>
              <a:t>≤500万一次性扣除+加计扣除</a:t>
            </a:r>
            <a:br>
              <a:rPr/>
            </a:br>
            <a:r>
              <a:rPr/>
              <a:t>综合节税可达资产原值30%+</a:t>
            </a:r>
            <a:endParaRPr/>
          </a:p>
        </p:txBody>
      </p:sp>
      <p:sp>
        <p:nvSpPr>
          <p:cNvPr id="212" name="TextBox 12"/>
          <p:cNvSpPr txBox="1"/>
          <p:nvPr/>
        </p:nvSpPr>
        <p:spPr>
          <a:xfrm>
            <a:off x="731520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管理动作二</a:t>
            </a:r>
            <a:endParaRPr/>
          </a:p>
        </p:txBody>
      </p:sp>
      <p:sp>
        <p:nvSpPr>
          <p:cNvPr id="213" name="TextBox 13"/>
          <p:cNvSpPr txBox="1"/>
          <p:nvPr/>
        </p:nvSpPr>
        <p:spPr>
          <a:xfrm>
            <a:off x="731520" y="4069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建立折旧假设年度复核机制</a:t>
            </a:r>
            <a:br>
              <a:rPr/>
            </a:br>
            <a:r>
              <a:rPr/>
              <a:t>CAPEX≥15%做减值前瞻测试</a:t>
            </a:r>
            <a:endParaRPr/>
          </a:p>
        </p:txBody>
      </p:sp>
      <p:sp>
        <p:nvSpPr>
          <p:cNvPr id="214" name="TextBox 14"/>
          <p:cNvSpPr txBox="1"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管理动作三</a:t>
            </a:r>
            <a:endParaRPr/>
          </a:p>
        </p:txBody>
      </p:sp>
      <p:sp>
        <p:nvSpPr>
          <p:cNvPr id="215" name="TextBox 15"/>
          <p:cNvSpPr txBox="1"/>
          <p:nvPr/>
        </p:nvSpPr>
        <p:spPr>
          <a:xfrm>
            <a:off x="731520" y="5212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税会差异台账管理</a:t>
            </a:r>
            <a:br>
              <a:rPr/>
            </a:br>
            <a:r>
              <a:rPr/>
              <a:t>逐资产跟踪</a:t>
            </a:r>
            <a:endParaRPr/>
          </a:p>
        </p:txBody>
      </p:sp>
      <p:sp>
        <p:nvSpPr>
          <p:cNvPr id="216" name="Rounded Rectangle 16"/>
          <p:cNvSpPr/>
          <p:nvPr/>
        </p:nvSpPr>
        <p:spPr>
          <a:xfrm>
            <a:off x="4297679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Rectangle 17"/>
          <p:cNvSpPr/>
          <p:nvPr/>
        </p:nvSpPr>
        <p:spPr>
          <a:xfrm>
            <a:off x="4297679" y="1645920"/>
            <a:ext cx="3474720" cy="8229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18"/>
          <p:cNvSpPr txBox="1"/>
          <p:nvPr/>
        </p:nvSpPr>
        <p:spPr>
          <a:xfrm>
            <a:off x="4297679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保险/金融机构</a:t>
            </a:r>
            <a:endParaRPr/>
          </a:p>
        </p:txBody>
      </p:sp>
      <p:sp>
        <p:nvSpPr>
          <p:cNvPr id="219" name="TextBox 19"/>
          <p:cNvSpPr txBox="1"/>
          <p:nvPr/>
        </p:nvSpPr>
        <p:spPr>
          <a:xfrm>
            <a:off x="4297679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科创保险创新（DMVI/ESI）</a:t>
            </a:r>
            <a:endParaRPr/>
          </a:p>
        </p:txBody>
      </p:sp>
      <p:sp>
        <p:nvSpPr>
          <p:cNvPr id="220" name="TextBox 20"/>
          <p:cNvSpPr txBox="1"/>
          <p:nvPr/>
        </p:nvSpPr>
        <p:spPr>
          <a:xfrm>
            <a:off x="4480559" y="2651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承保定价</a:t>
            </a:r>
            <a:endParaRPr/>
          </a:p>
        </p:txBody>
      </p:sp>
      <p:sp>
        <p:nvSpPr>
          <p:cNvPr id="221" name="TextBox 21"/>
          <p:cNvSpPr txBox="1"/>
          <p:nvPr/>
        </p:nvSpPr>
        <p:spPr>
          <a:xfrm>
            <a:off x="4480559" y="2926079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5D-DRS评分作为核保因子</a:t>
            </a:r>
            <a:br>
              <a:rPr/>
            </a:br>
            <a:r>
              <a:rPr/>
              <a:t>按「经济价值折扣系数」修正</a:t>
            </a:r>
            <a:br>
              <a:rPr/>
            </a:br>
            <a:r>
              <a:rPr/>
              <a:t>折旧算法模型库提供残值预测</a:t>
            </a:r>
            <a:endParaRPr/>
          </a:p>
        </p:txBody>
      </p:sp>
      <p:sp>
        <p:nvSpPr>
          <p:cNvPr id="222" name="TextBox 22"/>
          <p:cNvSpPr txBox="1"/>
          <p:nvPr/>
        </p:nvSpPr>
        <p:spPr>
          <a:xfrm>
            <a:off x="448055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投贷筛查</a:t>
            </a:r>
            <a:endParaRPr/>
          </a:p>
        </p:txBody>
      </p:sp>
      <p:sp>
        <p:nvSpPr>
          <p:cNvPr id="223" name="TextBox 23"/>
          <p:cNvSpPr txBox="1"/>
          <p:nvPr/>
        </p:nvSpPr>
        <p:spPr>
          <a:xfrm>
            <a:off x="4480559" y="4069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R1-R4规则嵌入尽调流程</a:t>
            </a:r>
            <a:br>
              <a:rPr/>
            </a:br>
            <a:r>
              <a:rPr/>
              <a:t>命中企业利润含金量需下调</a:t>
            </a:r>
            <a:endParaRPr/>
          </a:p>
        </p:txBody>
      </p:sp>
      <p:sp>
        <p:nvSpPr>
          <p:cNvPr id="224" name="TextBox 24"/>
          <p:cNvSpPr txBox="1"/>
          <p:nvPr/>
        </p:nvSpPr>
        <p:spPr>
          <a:xfrm>
            <a:off x="4480559" y="4937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风险减量</a:t>
            </a:r>
            <a:endParaRPr/>
          </a:p>
        </p:txBody>
      </p:sp>
      <p:sp>
        <p:nvSpPr>
          <p:cNvPr id="225" name="TextBox 25"/>
          <p:cNvSpPr txBox="1"/>
          <p:nvPr/>
        </p:nvSpPr>
        <p:spPr>
          <a:xfrm>
            <a:off x="4480559" y="5212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为客户提供折旧健康度体检</a:t>
            </a:r>
            <a:br>
              <a:rPr/>
            </a:br>
            <a:r>
              <a:rPr/>
              <a:t>事前预防、事中干预</a:t>
            </a:r>
            <a:endParaRPr/>
          </a:p>
        </p:txBody>
      </p:sp>
      <p:sp>
        <p:nvSpPr>
          <p:cNvPr id="226" name="Rounded Rectangle 26"/>
          <p:cNvSpPr/>
          <p:nvPr/>
        </p:nvSpPr>
        <p:spPr>
          <a:xfrm>
            <a:off x="8046719" y="164592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7"/>
          <p:cNvSpPr/>
          <p:nvPr/>
        </p:nvSpPr>
        <p:spPr>
          <a:xfrm>
            <a:off x="8046719" y="1645920"/>
            <a:ext cx="3474720" cy="82296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8"/>
          <p:cNvSpPr txBox="1"/>
          <p:nvPr/>
        </p:nvSpPr>
        <p:spPr>
          <a:xfrm>
            <a:off x="8046719" y="169164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监管与审计</a:t>
            </a:r>
            <a:endParaRPr/>
          </a:p>
        </p:txBody>
      </p:sp>
      <p:sp>
        <p:nvSpPr>
          <p:cNvPr id="229" name="TextBox 29"/>
          <p:cNvSpPr txBox="1"/>
          <p:nvPr/>
        </p:nvSpPr>
        <p:spPr>
          <a:xfrm>
            <a:off x="8046719" y="2103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RegTech路径</a:t>
            </a:r>
            <a:endParaRPr/>
          </a:p>
        </p:txBody>
      </p:sp>
      <p:sp>
        <p:nvSpPr>
          <p:cNvPr id="230" name="TextBox 30"/>
          <p:cNvSpPr txBox="1"/>
          <p:nvPr/>
        </p:nvSpPr>
        <p:spPr>
          <a:xfrm>
            <a:off x="8229599" y="2651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5D5D"/>
                </a:solidFill>
                <a:latin typeface="微软雅黑" panose="020B0503020204020204" charset="-122"/>
              </a:defRPr>
            </a:pPr>
            <a:r>
              <a:rPr/>
              <a:t>审计师</a:t>
            </a:r>
            <a:endParaRPr/>
          </a:p>
        </p:txBody>
      </p:sp>
      <p:sp>
        <p:nvSpPr>
          <p:cNvPr id="231" name="TextBox 31"/>
          <p:cNvSpPr txBox="1"/>
          <p:nvPr/>
        </p:nvSpPr>
        <p:spPr>
          <a:xfrm>
            <a:off x="8229599" y="2926079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R4作为审计计划自动筛查</a:t>
            </a:r>
            <a:br>
              <a:rPr/>
            </a:br>
            <a:r>
              <a:rPr/>
              <a:t>「延长+未来适用+量化影响」</a:t>
            </a:r>
            <a:br>
              <a:rPr/>
            </a:br>
            <a:r>
              <a:rPr/>
              <a:t>-&gt; KAM候选</a:t>
            </a:r>
            <a:endParaRPr/>
          </a:p>
        </p:txBody>
      </p:sp>
      <p:sp>
        <p:nvSpPr>
          <p:cNvPr id="232" name="TextBox 32"/>
          <p:cNvSpPr txBox="1"/>
          <p:nvPr/>
        </p:nvSpPr>
        <p:spPr>
          <a:xfrm>
            <a:off x="8229599" y="3794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5D5D"/>
                </a:solidFill>
                <a:latin typeface="微软雅黑" panose="020B0503020204020204" charset="-122"/>
              </a:defRPr>
            </a:pPr>
            <a:r>
              <a:rPr/>
              <a:t>监管机构</a:t>
            </a:r>
            <a:endParaRPr/>
          </a:p>
        </p:txBody>
      </p:sp>
      <p:sp>
        <p:nvSpPr>
          <p:cNvPr id="233" name="TextBox 33"/>
          <p:cNvSpPr txBox="1"/>
          <p:nvPr/>
        </p:nvSpPr>
        <p:spPr>
          <a:xfrm>
            <a:off x="8229599" y="4069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关键词矩阵+折旧指纹</a:t>
            </a:r>
            <a:br>
              <a:rPr/>
            </a:br>
            <a:r>
              <a:rPr/>
              <a:t>部署为定期报告初筛工具</a:t>
            </a:r>
            <a:endParaRPr/>
          </a:p>
        </p:txBody>
      </p:sp>
      <p:sp>
        <p:nvSpPr>
          <p:cNvPr id="234" name="TextBox 34"/>
          <p:cNvSpPr txBox="1"/>
          <p:nvPr/>
        </p:nvSpPr>
        <p:spPr>
          <a:xfrm>
            <a:off x="8229599" y="49377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85D5D"/>
                </a:solidFill>
                <a:latin typeface="微软雅黑" panose="020B0503020204020204" charset="-122"/>
              </a:defRPr>
            </a:pPr>
            <a:r>
              <a:rPr/>
              <a:t>宏观审慎</a:t>
            </a:r>
            <a:endParaRPr/>
          </a:p>
        </p:txBody>
      </p:sp>
      <p:sp>
        <p:nvSpPr>
          <p:cNvPr id="235" name="TextBox 35"/>
          <p:cNvSpPr txBox="1"/>
          <p:nvPr/>
        </p:nvSpPr>
        <p:spPr>
          <a:xfrm>
            <a:off x="8229599" y="521208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估计变更同步性监测</a:t>
            </a:r>
            <a:br>
              <a:rPr/>
            </a:br>
            <a:r>
              <a:rPr/>
              <a:t>「连续延长者」= 系统性信号</a:t>
            </a:r>
            <a:endParaRPr/>
          </a:p>
        </p:txBody>
      </p:sp>
      <p:sp>
        <p:nvSpPr>
          <p:cNvPr id="236" name="Rectangle 3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3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18 / 23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F5F5F0"/>
        </a:solidFill>
        <a:effectLst/>
      </p:bgPr>
    </p:bg>
    <p:spTree>
      <p:nvGrpSpPr>
        <p:cNvPr id="2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06</a:t>
            </a:r>
            <a:endParaRPr/>
          </a:p>
        </p:txBody>
      </p:sp>
      <p:sp>
        <p:nvSpPr>
          <p:cNvPr id="241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对中国科创企业的镜鉴</a:t>
            </a:r>
            <a:endParaRPr/>
          </a:p>
        </p:txBody>
      </p:sp>
      <p:sp>
        <p:nvSpPr>
          <p:cNvPr id="242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243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中美制度差异：方向相反</a:t>
            </a:r>
            <a:endParaRPr/>
          </a:p>
        </p:txBody>
      </p:sp>
      <p:sp>
        <p:nvSpPr>
          <p:cNvPr id="244" name="Rounded Rectangle 6"/>
          <p:cNvSpPr/>
          <p:nvPr/>
        </p:nvSpPr>
        <p:spPr>
          <a:xfrm>
            <a:off x="548640" y="155448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Rectangle 7"/>
          <p:cNvSpPr/>
          <p:nvPr/>
        </p:nvSpPr>
        <p:spPr>
          <a:xfrm>
            <a:off x="548640" y="1554480"/>
            <a:ext cx="2560320" cy="411480"/>
          </a:xfrm>
          <a:prstGeom prst="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8"/>
          <p:cNvSpPr txBox="1"/>
          <p:nvPr/>
        </p:nvSpPr>
        <p:spPr>
          <a:xfrm>
            <a:off x="548640" y="155448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美国：延长↑</a:t>
            </a:r>
            <a:endParaRPr/>
          </a:p>
        </p:txBody>
      </p:sp>
      <p:sp>
        <p:nvSpPr>
          <p:cNvPr id="247" name="TextBox 9"/>
          <p:cNvSpPr txBox="1"/>
          <p:nvPr/>
        </p:nvSpPr>
        <p:spPr>
          <a:xfrm>
            <a:off x="731520" y="21031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GAAP估计裁量里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  做「年限魔术」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短期美化利润</a:t>
            </a:r>
            <a:endParaRPr/>
          </a:p>
          <a:p>
            <a:pPr algn="l">
              <a:lnSpc>
                <a:spcPct val="140000"/>
              </a:lnSpc>
              <a:spcAft>
                <a:spcPts val="400"/>
              </a:spcAft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- 长期积累减值</a:t>
            </a:r>
            <a:endParaRPr/>
          </a:p>
        </p:txBody>
      </p:sp>
      <p:sp>
        <p:nvSpPr>
          <p:cNvPr id="248" name="TextBox 10"/>
          <p:cNvSpPr txBox="1"/>
          <p:nvPr/>
        </p:nvSpPr>
        <p:spPr>
          <a:xfrm>
            <a:off x="3200400" y="20116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&lt;-&gt;</a:t>
            </a:r>
            <a:endParaRPr/>
          </a:p>
        </p:txBody>
      </p:sp>
      <p:sp>
        <p:nvSpPr>
          <p:cNvPr id="249" name="Rounded Rectangle 11"/>
          <p:cNvSpPr/>
          <p:nvPr/>
        </p:nvSpPr>
        <p:spPr>
          <a:xfrm>
            <a:off x="3749039" y="1554480"/>
            <a:ext cx="25603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12"/>
          <p:cNvSpPr/>
          <p:nvPr/>
        </p:nvSpPr>
        <p:spPr>
          <a:xfrm>
            <a:off x="3749039" y="1554480"/>
            <a:ext cx="2560320" cy="411480"/>
          </a:xfrm>
          <a:prstGeom prst="rect">
            <a:avLst/>
          </a:prstGeom>
          <a:solidFill>
            <a:srgbClr val="5BB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13"/>
          <p:cNvSpPr txBox="1"/>
          <p:nvPr/>
        </p:nvSpPr>
        <p:spPr>
          <a:xfrm>
            <a:off x="3749039" y="1554480"/>
            <a:ext cx="2560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中国：加速↓</a:t>
            </a:r>
            <a:endParaRPr/>
          </a:p>
        </p:txBody>
      </p:sp>
      <p:sp>
        <p:nvSpPr>
          <p:cNvPr id="252" name="Rectangle 36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3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19 / 23</a:t>
            </a:r>
            <a:endParaRPr/>
          </a:p>
        </p:txBody>
      </p:sp>
      <p:sp>
        <p:nvSpPr>
          <p:cNvPr id="254" name="TextBox 38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43B6E"/>
                </a:solidFill>
                <a:latin typeface="微软雅黑"/>
              </a:rPr>
              <a:t>中国A股六家验证：5D-DRS外部效度</a:t>
            </a:r>
            <a:endParaRPr/>
          </a:p>
        </p:txBody>
      </p:sp>
      <p:graphicFrame>
        <p:nvGraphicFramePr>
          <p:cNvPr id="255" name="Table 39"/>
          <p:cNvGraphicFramePr>
            <a:graphicFrameLocks noGrp="1"/>
          </p:cNvGraphicFramePr>
          <p:nvPr/>
        </p:nvGraphicFramePr>
        <p:xfrm>
          <a:off x="548640" y="370332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val="1"/>
                    </a:ext>
                  </a:extLst>
                </a:gridCol>
                <a:gridCol w="1097280">
                  <a:extLst>
                    <a:ext uri="{9D8B030D-6E8A-4147-A177-3AD203B41FA5}">
                      <a16:colId val="2"/>
                    </a:ext>
                  </a:extLst>
                </a:gridCol>
                <a:gridCol w="1828800">
                  <a:extLst>
                    <a:ext uri="{9D8B030D-6E8A-4147-A177-3AD203B41FA5}">
                      <a16:colId val="3"/>
                    </a:ext>
                  </a:extLst>
                </a:gridCol>
                <a:gridCol w="5394960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公司 / 代码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评分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核心风险信号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0E1B2E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奥飞数据 300738.SZ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85D5D"/>
                          </a:solidFill>
                          <a:latin typeface="微软雅黑"/>
                        </a:rPr>
                        <a:t>4.45 🔴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运营型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机器设备3-18年跨度（披露颗粒度缺口极端案例）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科大讯飞 002230.SZ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3.75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软件型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研发资本化率43.58%，减值密集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数据港 603881.SH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3.00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运营型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首个「年限上行漂移」实证（房居20-30→20-40年）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中科曙光 603019.SH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2.70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混合型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无形资产占比84.6%（风险迁移）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寒武纪 688256.SH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2.65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设计型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存货暴增1684%，连续8年亏损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浪潮信息 000977.SZ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2.10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制造型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555555"/>
                          </a:solidFill>
                          <a:latin typeface="微软雅黑"/>
                        </a:rPr>
                        <a:t>首个「主动缩短」实证（5年→3年）</a:t>
                      </a:r>
                      <a:endParaRPr/>
                    </a:p>
                  </a:txBody>
                  <a:tcPr marL="54864" marR="54864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56" name="TextBox 40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1B2E"/>
                </a:solidFill>
                <a:latin typeface="微软雅黑"/>
              </a:rPr>
              <a:t>六条差异化路径证明：5D-DRS不会因国别预设方向，风险高低始终由「假设激进度 × 资产敞口」内生决定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>
              <a:gd name="adj" fmla="val 18000"/>
            </a:avLst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  <a:endParaRPr/>
          </a:p>
        </p:txBody>
      </p:sp>
      <p:sp>
        <p:nvSpPr>
          <p:cNvPr id="297" name="TextBox 3"/>
          <p:cNvSpPr txBox="1"/>
          <p:nvPr/>
        </p:nvSpPr>
        <p:spPr>
          <a:xfrm>
            <a:off x="1280160" y="320040"/>
            <a:ext cx="777240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E1B2E"/>
                </a:solidFill>
                <a:latin typeface="微软雅黑"/>
              </a:rPr>
              <a:t>从规则引擎到认知增强：RAG + FinBERT</a:t>
            </a:r>
            <a:endParaRPr/>
          </a:p>
        </p:txBody>
      </p:sp>
      <p:sp>
        <p:nvSpPr>
          <p:cNvPr id="298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55555"/>
                </a:solidFill>
                <a:latin typeface="微软雅黑"/>
              </a:rPr>
              <a:t>折旧错配风险识别</a:t>
            </a:r>
            <a:endParaRPr/>
          </a:p>
        </p:txBody>
      </p:sp>
      <p:sp>
        <p:nvSpPr>
          <p:cNvPr id="299" name="Rectangle 5"/>
          <p:cNvSpPr/>
          <p:nvPr/>
        </p:nvSpPr>
        <p:spPr>
          <a:xfrm>
            <a:off x="0" y="6720840"/>
            <a:ext cx="12188952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20 / 23</a:t>
            </a:r>
            <a:endParaRPr/>
          </a:p>
        </p:txBody>
      </p:sp>
      <p:sp>
        <p:nvSpPr>
          <p:cNvPr id="301" name="Rounded Rectangle 7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Rectangle 8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9"/>
          <p:cNvSpPr txBox="1"/>
          <p:nvPr/>
        </p:nvSpPr>
        <p:spPr>
          <a:xfrm>
            <a:off x="640080" y="1572768"/>
            <a:ext cx="5303520" cy="51206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RAG 解释引擎</a:t>
            </a:r>
            <a:endParaRPr/>
          </a:p>
        </p:txBody>
      </p:sp>
      <p:sp>
        <p:nvSpPr>
          <p:cNvPr id="304" name="TextBox 10"/>
          <p:cNvSpPr txBox="1"/>
          <p:nvPr/>
        </p:nvSpPr>
        <p:spPr>
          <a:xfrm>
            <a:off x="731520" y="2240280"/>
            <a:ext cx="5120640" cy="3657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功能：用户问「为什么Intel评分4.55？」→ 自动检索证据链 → 生成自然语言解释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价值：让非财务背景的用户（评委 / 监管 / 投资者）也能理解评分逻辑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构成：向量库（30份标注 + 10-K原文）→ 检索 → 大模型生成可溯源解释</a:t>
            </a:r>
            <a:endParaRPr/>
          </a:p>
        </p:txBody>
      </p:sp>
      <p:sp>
        <p:nvSpPr>
          <p:cNvPr id="305" name="Rounded Rectangle 11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ectangle 12"/>
          <p:cNvSpPr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13"/>
          <p:cNvSpPr txBox="1"/>
          <p:nvPr/>
        </p:nvSpPr>
        <p:spPr>
          <a:xfrm>
            <a:off x="6400800" y="1572768"/>
            <a:ext cx="5120640" cy="512064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FinBERT 文本分析</a:t>
            </a:r>
            <a:endParaRPr/>
          </a:p>
        </p:txBody>
      </p:sp>
      <p:sp>
        <p:nvSpPr>
          <p:cNvPr id="308" name="TextBox 14"/>
          <p:cNvSpPr txBox="1"/>
          <p:nvPr/>
        </p:nvSpPr>
        <p:spPr>
          <a:xfrm>
            <a:off x="6492240" y="2240280"/>
            <a:ext cx="4937760" cy="3657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功能：用财务领域预训练模型替代关键词规则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路径：30份标注 → FinBERT微调 → 语义级风险识别</a:t>
            </a: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55555"/>
                </a:solidFill>
                <a:latin typeface="微软雅黑"/>
              </a:rPr>
              <a:t>价值：从「字面匹配」升级为「语义理解」，降低漏报（如将「useful life延伸至」「revaluation」归一识别）</a:t>
            </a:r>
            <a:endParaRPr/>
          </a:p>
        </p:txBody>
      </p:sp>
      <p:sp>
        <p:nvSpPr>
          <p:cNvPr id="309" name="TextBox 1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E1B2E"/>
                </a:solidFill>
                <a:latin typeface="微软雅黑"/>
              </a:rPr>
              <a:t>技术演进路线：当前规则引擎 → 近期 RAG增强 → 中期 FinBERT语义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5F5F0"/>
        </a:solidFill>
        <a:effectLst/>
      </p:bgPr>
    </p:bg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ounded Rectangle 1"/>
          <p:cNvSpPr/>
          <p:nvPr/>
        </p:nvSpPr>
        <p:spPr>
          <a:xfrm>
            <a:off x="457200" y="320040"/>
            <a:ext cx="640080" cy="50292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TextBox 2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07</a:t>
            </a:r>
            <a:endParaRPr/>
          </a:p>
        </p:txBody>
      </p:sp>
      <p:sp>
        <p:nvSpPr>
          <p:cNvPr id="313" name="TextBox 3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结论与展望</a:t>
            </a:r>
            <a:endParaRPr/>
          </a:p>
        </p:txBody>
      </p:sp>
      <p:sp>
        <p:nvSpPr>
          <p:cNvPr id="314" name="TextBox 4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折旧错配风险识别</a:t>
            </a:r>
            <a:endParaRPr/>
          </a:p>
        </p:txBody>
      </p:sp>
      <p:sp>
        <p:nvSpPr>
          <p:cNvPr id="315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四大主要结论</a:t>
            </a:r>
            <a:endParaRPr/>
          </a:p>
        </p:txBody>
      </p:sp>
      <p:sp>
        <p:nvSpPr>
          <p:cNvPr id="316" name="Rounded Rectangle 6"/>
          <p:cNvSpPr/>
          <p:nvPr/>
        </p:nvSpPr>
        <p:spPr>
          <a:xfrm>
            <a:off x="548640" y="1554480"/>
            <a:ext cx="822960" cy="86868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7"/>
          <p:cNvSpPr txBox="1"/>
          <p:nvPr/>
        </p:nvSpPr>
        <p:spPr>
          <a:xfrm>
            <a:off x="548640" y="1554480"/>
            <a:ext cx="822960" cy="8686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结论一</a:t>
            </a:r>
            <a:endParaRPr/>
          </a:p>
        </p:txBody>
      </p:sp>
      <p:sp>
        <p:nvSpPr>
          <p:cNvPr id="318" name="Rounded Rectangle 8"/>
          <p:cNvSpPr/>
          <p:nvPr/>
        </p:nvSpPr>
        <p:spPr>
          <a:xfrm>
            <a:off x="1463040" y="1554480"/>
            <a:ext cx="10149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9"/>
          <p:cNvSpPr txBox="1"/>
          <p:nvPr/>
        </p:nvSpPr>
        <p:spPr>
          <a:xfrm>
            <a:off x="1645920" y="16459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折旧错配是行业级计量现象</a:t>
            </a:r>
            <a:endParaRPr/>
          </a:p>
        </p:txBody>
      </p:sp>
      <p:sp>
        <p:nvSpPr>
          <p:cNvPr id="320" name="TextBox 10"/>
          <p:cNvSpPr txBox="1"/>
          <p:nvPr/>
        </p:nvSpPr>
        <p:spPr>
          <a:xfrm>
            <a:off x="1645920" y="196596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6家在约12个月内同步延长年限，Oracle/Meta为「连续延长者」
Meta 2025年再延至5.5年，Amazon反向缩回5年</a:t>
            </a:r>
            <a:br>
              <a:rPr/>
            </a:br>
            <a:endParaRPr/>
          </a:p>
        </p:txBody>
      </p:sp>
      <p:sp>
        <p:nvSpPr>
          <p:cNvPr id="321" name="Rounded Rectangle 11"/>
          <p:cNvSpPr/>
          <p:nvPr/>
        </p:nvSpPr>
        <p:spPr>
          <a:xfrm>
            <a:off x="548640" y="2606039"/>
            <a:ext cx="822960" cy="868680"/>
          </a:xfrm>
          <a:prstGeom prst="round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12"/>
          <p:cNvSpPr txBox="1"/>
          <p:nvPr/>
        </p:nvSpPr>
        <p:spPr>
          <a:xfrm>
            <a:off x="548640" y="2606039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结论二</a:t>
            </a:r>
            <a:endParaRPr/>
          </a:p>
        </p:txBody>
      </p:sp>
      <p:sp>
        <p:nvSpPr>
          <p:cNvPr id="323" name="Rounded Rectangle 13"/>
          <p:cNvSpPr/>
          <p:nvPr/>
        </p:nvSpPr>
        <p:spPr>
          <a:xfrm>
            <a:off x="1463040" y="2606039"/>
            <a:ext cx="10149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14"/>
          <p:cNvSpPr txBox="1"/>
          <p:nvPr/>
        </p:nvSpPr>
        <p:spPr>
          <a:xfrm>
            <a:off x="1645920" y="269747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风险可被结构化识别与量化比较</a:t>
            </a:r>
            <a:endParaRPr/>
          </a:p>
        </p:txBody>
      </p:sp>
      <p:sp>
        <p:nvSpPr>
          <p:cNvPr id="325" name="TextBox 15"/>
          <p:cNvSpPr txBox="1"/>
          <p:nvPr/>
        </p:nvSpPr>
        <p:spPr>
          <a:xfrm>
            <a:off x="1645920" y="301752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 lang="zh-CN"/>
              <a:t>变更年4.25 vs 非变更年3.43；风险=假设激进度x资产敞口
XGBoost PoC：LOGO交叉验证MAE=0.418，朴素基线0.784，相对改善46.6%（55特征全量面板）
→折旧错配识别是科技金融「投融贷保」全流程的风险度量基础设施</a:t>
            </a:r>
            <a:endParaRPr/>
          </a:p>
        </p:txBody>
      </p:sp>
      <p:sp>
        <p:nvSpPr>
          <p:cNvPr id="326" name="Rounded Rectangle 16"/>
          <p:cNvSpPr/>
          <p:nvPr/>
        </p:nvSpPr>
        <p:spPr>
          <a:xfrm>
            <a:off x="548640" y="3657600"/>
            <a:ext cx="822960" cy="868680"/>
          </a:xfrm>
          <a:prstGeom prst="roundRect">
            <a:avLst/>
          </a:prstGeom>
          <a:solidFill>
            <a:srgbClr val="E8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17"/>
          <p:cNvSpPr txBox="1"/>
          <p:nvPr/>
        </p:nvSpPr>
        <p:spPr>
          <a:xfrm>
            <a:off x="548640" y="3657600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结论三</a:t>
            </a:r>
            <a:endParaRPr/>
          </a:p>
        </p:txBody>
      </p:sp>
      <p:sp>
        <p:nvSpPr>
          <p:cNvPr id="328" name="Rounded Rectangle 18"/>
          <p:cNvSpPr/>
          <p:nvPr/>
        </p:nvSpPr>
        <p:spPr>
          <a:xfrm>
            <a:off x="1463040" y="3657600"/>
            <a:ext cx="10149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19"/>
          <p:cNvSpPr txBox="1"/>
          <p:nvPr/>
        </p:nvSpPr>
        <p:spPr>
          <a:xfrm>
            <a:off x="1645920" y="374903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错配兑现沿四通道分化，存在时间差</a:t>
            </a:r>
            <a:endParaRPr/>
          </a:p>
        </p:txBody>
      </p:sp>
      <p:sp>
        <p:nvSpPr>
          <p:cNvPr id="330" name="TextBox 20"/>
          <p:cNvSpPr txBox="1"/>
          <p:nvPr/>
        </p:nvSpPr>
        <p:spPr>
          <a:xfrm>
            <a:off x="1645920" y="406908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存储厂商已爆雷(Micron)，云厂商仍在累积(折旧指纹+表外承诺)</a:t>
            </a:r>
            <a:br>
              <a:rPr/>
            </a:br>
            <a:r>
              <a:rPr/>
              <a:t>事前风控有明确干预窗口</a:t>
            </a:r>
            <a:endParaRPr/>
          </a:p>
        </p:txBody>
      </p:sp>
      <p:sp>
        <p:nvSpPr>
          <p:cNvPr id="331" name="Rounded Rectangle 21"/>
          <p:cNvSpPr/>
          <p:nvPr/>
        </p:nvSpPr>
        <p:spPr>
          <a:xfrm>
            <a:off x="548640" y="4709159"/>
            <a:ext cx="822960" cy="868680"/>
          </a:xfrm>
          <a:prstGeom prst="roundRect">
            <a:avLst/>
          </a:prstGeom>
          <a:solidFill>
            <a:srgbClr val="24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22"/>
          <p:cNvSpPr txBox="1"/>
          <p:nvPr/>
        </p:nvSpPr>
        <p:spPr>
          <a:xfrm>
            <a:off x="548640" y="4709159"/>
            <a:ext cx="822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结论四</a:t>
            </a:r>
            <a:endParaRPr/>
          </a:p>
        </p:txBody>
      </p:sp>
      <p:sp>
        <p:nvSpPr>
          <p:cNvPr id="333" name="Rounded Rectangle 23"/>
          <p:cNvSpPr/>
          <p:nvPr/>
        </p:nvSpPr>
        <p:spPr>
          <a:xfrm>
            <a:off x="1463040" y="4709159"/>
            <a:ext cx="10149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24"/>
          <p:cNvSpPr txBox="1"/>
          <p:nvPr/>
        </p:nvSpPr>
        <p:spPr>
          <a:xfrm>
            <a:off x="1645920" y="4800599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1B2E"/>
                </a:solidFill>
                <a:latin typeface="微软雅黑" panose="020B0503020204020204" charset="-122"/>
              </a:defRPr>
            </a:pPr>
            <a:r>
              <a:rPr/>
              <a:t>证据链方法具备双向验证能力</a:t>
            </a:r>
            <a:endParaRPr/>
          </a:p>
        </p:txBody>
      </p:sp>
      <p:sp>
        <p:nvSpPr>
          <p:cNvPr id="335" name="TextBox 25"/>
          <p:cNvSpPr txBox="1"/>
          <p:nvPr/>
        </p:nvSpPr>
        <p:spPr>
          <a:xfrm>
            <a:off x="1645920" y="51206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3C3C3C"/>
                </a:solidFill>
                <a:latin typeface="微软雅黑" panose="020B0503020204020204" charset="-122"/>
              </a:defRPr>
            </a:pPr>
            <a:r>
              <a:rPr/>
              <a:t>Intel 5-&gt;8年（晶圆厂设备）vs Oracle 5-&gt;6年（服务器）精准区分
Oracle FY2025：经营费用-$7.33亿、净利+$5.73亿（逐字证实）</a:t>
            </a:r>
            <a:br>
              <a:rPr/>
            </a:br>
            <a:endParaRPr/>
          </a:p>
        </p:txBody>
      </p:sp>
      <p:sp>
        <p:nvSpPr>
          <p:cNvPr id="336" name="Rounded Rectangle 26"/>
          <p:cNvSpPr/>
          <p:nvPr/>
        </p:nvSpPr>
        <p:spPr>
          <a:xfrm>
            <a:off x="548640" y="5852160"/>
            <a:ext cx="10972800" cy="640080"/>
          </a:xfrm>
          <a:prstGeom prst="roundRect">
            <a:avLst/>
          </a:prstGeom>
          <a:solidFill>
            <a:srgbClr val="0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27"/>
          <p:cNvSpPr txBox="1"/>
          <p:nvPr/>
        </p:nvSpPr>
        <p:spPr>
          <a:xfrm>
            <a:off x="914400" y="589788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研究贡献：方法论（可复核证据链+五维评分范式）| 数据资产（30美股标注库+20扩样+6家A股验证集+v0.6）| 应用（识别系统+预警规则+三类主体方案+保险DMVI/ESI+XGBoost PoC）| AI深化（RAG/FinBERT）</a:t>
            </a:r>
            <a:endParaRPr/>
          </a:p>
        </p:txBody>
      </p:sp>
      <p:sp>
        <p:nvSpPr>
          <p:cNvPr id="338" name="Rectangle 2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21 / 23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Rectangle 3"/>
          <p:cNvSpPr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TextBox 4"/>
          <p:cNvSpPr txBox="1"/>
          <p:nvPr/>
        </p:nvSpPr>
        <p:spPr>
          <a:xfrm>
            <a:off x="457200" y="3200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团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5" name="TextBox 5"/>
          <p:cNvSpPr txBox="1"/>
          <p:nvPr/>
        </p:nvSpPr>
        <p:spPr>
          <a:xfrm>
            <a:off x="1280160" y="32004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243B6E"/>
                </a:solidFill>
                <a:latin typeface="微软雅黑" panose="020B0503020204020204" charset="-122"/>
              </a:rPr>
              <a:t>研究团队介绍</a:t>
            </a:r>
            <a:endParaRPr sz="2600" b="1">
              <a:solidFill>
                <a:srgbClr val="243B6E"/>
              </a:solidFill>
              <a:latin typeface="微软雅黑" panose="020B0503020204020204" charset="-122"/>
            </a:endParaRPr>
          </a:p>
        </p:txBody>
      </p:sp>
      <p:sp>
        <p:nvSpPr>
          <p:cNvPr id="346" name="TextBox 6"/>
          <p:cNvSpPr txBox="1"/>
          <p:nvPr/>
        </p:nvSpPr>
        <p:spPr>
          <a:xfrm>
            <a:off x="8686800" y="320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折旧错配风险识别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347" name="Rectangle 7"/>
          <p:cNvSpPr/>
          <p:nvPr/>
        </p:nvSpPr>
        <p:spPr>
          <a:xfrm>
            <a:off x="548640" y="1417320"/>
            <a:ext cx="530352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Rectangle 8"/>
          <p:cNvSpPr/>
          <p:nvPr/>
        </p:nvSpPr>
        <p:spPr>
          <a:xfrm>
            <a:off x="548640" y="1417320"/>
            <a:ext cx="5303520" cy="566928"/>
          </a:xfrm>
          <a:prstGeom prst="rect">
            <a:avLst/>
          </a:prstGeom>
          <a:solidFill>
            <a:srgbClr val="24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9"/>
          <p:cNvSpPr txBox="1"/>
          <p:nvPr/>
        </p:nvSpPr>
        <p:spPr>
          <a:xfrm>
            <a:off x="731520" y="1417320"/>
            <a:ext cx="49377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康中阳   ·   金融数学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0" name="TextBox 10"/>
          <p:cNvSpPr txBox="1"/>
          <p:nvPr/>
        </p:nvSpPr>
        <p:spPr>
          <a:xfrm>
            <a:off x="777240" y="214884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3B6E"/>
                </a:solidFill>
                <a:latin typeface="微软雅黑" panose="020B0503020204020204" charset="-122"/>
              </a:rPr>
              <a:t>负责模块</a:t>
            </a:r>
            <a:endParaRPr sz="1400" b="1">
              <a:solidFill>
                <a:srgbClr val="243B6E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选题与制度研究：赛题解读、中美会计准则对照、文献综述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证据链标注与人工复核：10-K下载定位、四列证据链、30份全部confirmed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报告撰写：七章正文统稿、图表绘制、答辩材料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/>
            <a:r>
              <a:rPr/>
              <a:t>对应成果：第一、二、六章，附录B</a:t>
            </a:r>
            <a:endParaRPr/>
          </a:p>
        </p:txBody>
      </p:sp>
      <p:sp>
        <p:nvSpPr>
          <p:cNvPr id="351" name="Rectangle 11"/>
          <p:cNvSpPr/>
          <p:nvPr/>
        </p:nvSpPr>
        <p:spPr>
          <a:xfrm>
            <a:off x="6309360" y="1417320"/>
            <a:ext cx="5303520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Rectangle 12"/>
          <p:cNvSpPr/>
          <p:nvPr/>
        </p:nvSpPr>
        <p:spPr>
          <a:xfrm>
            <a:off x="6309360" y="1417320"/>
            <a:ext cx="5303520" cy="566928"/>
          </a:xfrm>
          <a:prstGeom prst="rect">
            <a:avLst/>
          </a:prstGeom>
          <a:solidFill>
            <a:srgbClr val="24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13"/>
          <p:cNvSpPr txBox="1"/>
          <p:nvPr/>
        </p:nvSpPr>
        <p:spPr>
          <a:xfrm>
            <a:off x="6492240" y="1417320"/>
            <a:ext cx="493775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程亚楠   ·   计算机科学与技术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4" name="TextBox 14"/>
          <p:cNvSpPr txBox="1"/>
          <p:nvPr/>
        </p:nvSpPr>
        <p:spPr>
          <a:xfrm>
            <a:off x="6537960" y="2148840"/>
            <a:ext cx="4846320" cy="149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43B6E"/>
                </a:solidFill>
                <a:latin typeface="微软雅黑" panose="020B0503020204020204" charset="-122"/>
              </a:rPr>
              <a:t>负责模块</a:t>
            </a:r>
            <a:endParaRPr sz="1400" b="1">
              <a:solidFill>
                <a:srgbClr val="243B6E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数据工程与模型验证：45指标提取、训练集v0.6（30行x85列）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XGBoost PoC：55特征全量面板、SHAP分析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微软雅黑" panose="020B0503020204020204" charset="-122"/>
              </a:rPr>
              <a:t>• 系统开发：Streamlit识别系统、FastAPI接口、冒烟测试</a:t>
            </a:r>
            <a:endParaRPr sz="1300" b="0">
              <a:solidFill>
                <a:srgbClr val="555555"/>
              </a:solidFill>
              <a:latin typeface="微软雅黑" panose="020B0503020204020204" charset="-122"/>
            </a:endParaRPr>
          </a:p>
          <a:p>
            <a:pPr/>
            <a:r>
              <a:rPr/>
              <a:t>对应成果：附录A/C/D/F，5.2节</a:t>
            </a:r>
            <a:endParaRPr/>
          </a:p>
        </p:txBody>
      </p:sp>
      <p:sp>
        <p:nvSpPr>
          <p:cNvPr id="355" name="Rectangle 15"/>
          <p:cNvSpPr/>
          <p:nvPr/>
        </p:nvSpPr>
        <p:spPr>
          <a:xfrm>
            <a:off x="548640" y="4983480"/>
            <a:ext cx="11064240" cy="1417320"/>
          </a:xfrm>
          <a:prstGeom prst="rect">
            <a:avLst/>
          </a:prstGeom>
          <a:solidFill>
            <a:srgbClr val="F5F8FB"/>
          </a:solidFill>
          <a:ln w="12700">
            <a:solidFill>
              <a:srgbClr val="E8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TextBox 16"/>
          <p:cNvSpPr txBox="1"/>
          <p:nvPr/>
        </p:nvSpPr>
        <p:spPr>
          <a:xfrm>
            <a:off x="777240" y="5074920"/>
            <a:ext cx="10607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 panose="020B0503020204020204" charset="-122"/>
              </a:rPr>
              <a:t>协作机制：全项目实行「AI草拟+人工复核」双签制；关键数字（评分、金额、行号）实行双人交叉核对，复核记录留痕（review_status字段）。核心工作量由康中阳独立完成，系统开发在Kimi AI助手协助下完成。总工作量约90人天。</a:t>
            </a:r>
            <a:endParaRPr sz="14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  <p:sp>
        <p:nvSpPr>
          <p:cNvPr id="357" name="TextBox 17"/>
          <p:cNvSpPr txBox="1"/>
          <p:nvPr/>
        </p:nvSpPr>
        <p:spPr>
          <a:xfrm>
            <a:off x="11155680" y="641908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微软雅黑" panose="020B0503020204020204" charset="-122"/>
              </a:rPr>
              <a:t>22 / 23</a:t>
            </a:r>
            <a:endParaRPr sz="1100" b="0">
              <a:solidFill>
                <a:srgbClr val="5555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ectangle 2"/>
          <p:cNvSpPr/>
          <p:nvPr/>
        </p:nvSpPr>
        <p:spPr>
          <a:xfrm>
            <a:off x="5029200" y="1828800"/>
            <a:ext cx="210312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"/>
          <p:cNvSpPr txBox="1"/>
          <p:nvPr/>
        </p:nvSpPr>
        <p:spPr>
          <a:xfrm>
            <a:off x="1828800" y="2103120"/>
            <a:ext cx="8503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rPr/>
              <a:t>Q &amp; A</a:t>
            </a:r>
            <a:endParaRPr/>
          </a:p>
        </p:txBody>
      </p:sp>
      <p:sp>
        <p:nvSpPr>
          <p:cNvPr id="362" name="Rectangle 4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5"/>
          <p:cNvSpPr txBox="1"/>
          <p:nvPr/>
        </p:nvSpPr>
        <p:spPr>
          <a:xfrm>
            <a:off x="1828800" y="3657600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/>
              <a:t>感谢各位评委聆听</a:t>
            </a:r>
            <a:endParaRPr/>
          </a:p>
        </p:txBody>
      </p:sp>
      <p:sp>
        <p:nvSpPr>
          <p:cNvPr id="364" name="TextBox 6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DDC48A"/>
                </a:solidFill>
                <a:latin typeface="微软雅黑" panose="020B0503020204020204" charset="-122"/>
              </a:defRPr>
            </a:pPr>
            <a:r>
              <a:rPr/>
              <a:t>让账面跟上技术迭代，在窗口期关闭之前</a:t>
            </a:r>
            <a:endParaRPr/>
          </a:p>
        </p:txBody>
      </p:sp>
      <p:sp>
        <p:nvSpPr>
          <p:cNvPr id="365" name="TextBox 7"/>
          <p:cNvSpPr txBox="1"/>
          <p:nvPr/>
        </p:nvSpPr>
        <p:spPr>
          <a:xfrm>
            <a:off x="1828800" y="548640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A9A95"/>
                </a:solidFill>
                <a:latin typeface="微软雅黑" panose="020B0503020204020204" charset="-122"/>
              </a:defRPr>
            </a:pPr>
            <a:r>
              <a:rPr/>
              <a:t>科创企业资产折旧风险智能识别系统  |  代码开源  |  GitHub: github.com/zhongyang-260714/depreciation-risk-detection</a:t>
            </a:r>
            <a:endParaRPr/>
          </a:p>
        </p:txBody>
      </p:sp>
      <p:sp>
        <p:nvSpPr>
          <p:cNvPr id="366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2026-08-20T12:21:59Z</dcterms:created>
  <dcterms:modified xsi:type="dcterms:W3CDTF">2026-08-20T12:21:59Z</dcterms:modified>
</cp:coreProperties>
</file>